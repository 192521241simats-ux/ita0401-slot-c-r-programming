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7569200" cy="10693400"/>
  <p:notesSz cx="7569200" cy="10693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1445" y="-1301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690" y="3314954"/>
            <a:ext cx="6433820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5380" y="5988304"/>
            <a:ext cx="5298440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460" y="2459482"/>
            <a:ext cx="329260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8138" y="2459482"/>
            <a:ext cx="329260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460" y="427736"/>
            <a:ext cx="6812280" cy="1710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460" y="2459482"/>
            <a:ext cx="6812280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73528" y="9944862"/>
            <a:ext cx="242214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8460" y="9944862"/>
            <a:ext cx="1740916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9824" y="9944862"/>
            <a:ext cx="1740916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79623" y="852204"/>
            <a:ext cx="4610735" cy="561975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53975" algn="ctr">
              <a:lnSpc>
                <a:spcPct val="100000"/>
              </a:lnSpc>
              <a:spcBef>
                <a:spcPts val="375"/>
              </a:spcBef>
            </a:pPr>
            <a:r>
              <a:rPr sz="1700" b="1" spc="-20" dirty="0">
                <a:latin typeface="Times New Roman"/>
                <a:cs typeface="Times New Roman"/>
              </a:rPr>
              <a:t>SIMATS</a:t>
            </a:r>
            <a:r>
              <a:rPr sz="1700" b="1" spc="-75" dirty="0">
                <a:latin typeface="Times New Roman"/>
                <a:cs typeface="Times New Roman"/>
              </a:rPr>
              <a:t> </a:t>
            </a:r>
            <a:r>
              <a:rPr sz="1700" b="1" spc="-10" dirty="0">
                <a:latin typeface="Times New Roman"/>
                <a:cs typeface="Times New Roman"/>
              </a:rPr>
              <a:t>ENGINEERING</a:t>
            </a:r>
            <a:endParaRPr sz="17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229"/>
              </a:spcBef>
            </a:pPr>
            <a:r>
              <a:rPr sz="1400" b="1" spc="-10" dirty="0">
                <a:latin typeface="Times New Roman"/>
                <a:cs typeface="Times New Roman"/>
              </a:rPr>
              <a:t>ASSESSMENT</a:t>
            </a:r>
            <a:r>
              <a:rPr sz="1400" b="1" spc="-4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TOOL</a:t>
            </a:r>
            <a:r>
              <a:rPr sz="1400" b="1" spc="-4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1</a:t>
            </a:r>
            <a:r>
              <a:rPr sz="1400" b="1" spc="-4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-</a:t>
            </a:r>
            <a:r>
              <a:rPr sz="1400" b="1" dirty="0">
                <a:latin typeface="Times New Roman"/>
                <a:cs typeface="Times New Roman"/>
              </a:rPr>
              <a:t>Constraint</a:t>
            </a:r>
            <a:r>
              <a:rPr sz="1400" b="1" spc="-4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Based</a:t>
            </a:r>
            <a:r>
              <a:rPr sz="1400" b="1" spc="-4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Problem</a:t>
            </a:r>
            <a:r>
              <a:rPr sz="1400" b="1" spc="-4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Solving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1700" y="2268714"/>
            <a:ext cx="25336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Times New Roman"/>
                <a:cs typeface="Times New Roman"/>
              </a:rPr>
              <a:t>COURSE NAME: R </a:t>
            </a:r>
            <a:r>
              <a:rPr sz="1100" b="1" spc="-10" dirty="0">
                <a:latin typeface="Times New Roman"/>
                <a:cs typeface="Times New Roman"/>
              </a:rPr>
              <a:t>PROGRAMMING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02100" y="2268713"/>
            <a:ext cx="196850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Times New Roman"/>
                <a:cs typeface="Times New Roman"/>
              </a:rPr>
              <a:t>COURSE CODE: </a:t>
            </a:r>
            <a:r>
              <a:rPr sz="1200" b="1" spc="-20" dirty="0" smtClean="0">
                <a:latin typeface="Times New Roman"/>
                <a:cs typeface="Times New Roman"/>
              </a:rPr>
              <a:t>ITA04</a:t>
            </a:r>
            <a:r>
              <a:rPr lang="en-US" sz="1200" b="1" spc="-20" dirty="0" smtClean="0">
                <a:latin typeface="Times New Roman"/>
                <a:cs typeface="Times New Roman"/>
              </a:rPr>
              <a:t>01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52500" y="2813050"/>
            <a:ext cx="5867400" cy="0"/>
          </a:xfrm>
          <a:custGeom>
            <a:avLst/>
            <a:gdLst/>
            <a:ahLst/>
            <a:cxnLst/>
            <a:rect l="l" t="t" r="r" b="b"/>
            <a:pathLst>
              <a:path w="5867400">
                <a:moveTo>
                  <a:pt x="0" y="0"/>
                </a:moveTo>
                <a:lnTo>
                  <a:pt x="5867400" y="0"/>
                </a:lnTo>
              </a:path>
            </a:pathLst>
          </a:custGeom>
          <a:ln w="12700">
            <a:solidFill>
              <a:srgbClr val="87878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01700" y="2873309"/>
            <a:ext cx="5960745" cy="16192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Times New Roman"/>
                <a:cs typeface="Times New Roman"/>
              </a:rPr>
              <a:t>COURSE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OUTCOME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COVERED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4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10200"/>
              </a:lnSpc>
            </a:pPr>
            <a:r>
              <a:rPr sz="1200" b="1" dirty="0">
                <a:latin typeface="Times New Roman"/>
                <a:cs typeface="Times New Roman"/>
              </a:rPr>
              <a:t>CO1:</a:t>
            </a:r>
            <a:r>
              <a:rPr sz="1200" b="1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Apply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programming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fundamentals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including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structures,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vectors,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matrices,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arrays,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1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class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types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perform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mathematical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operations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manage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effectively.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Identify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and </a:t>
            </a:r>
            <a:r>
              <a:rPr sz="1200" dirty="0">
                <a:latin typeface="Times New Roman"/>
                <a:cs typeface="Times New Roman"/>
              </a:rPr>
              <a:t>implement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appropriate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control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structures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solve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particular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programming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problem</a:t>
            </a:r>
            <a:endParaRPr sz="1200">
              <a:latin typeface="Times New Roman"/>
              <a:cs typeface="Times New Roman"/>
            </a:endParaRPr>
          </a:p>
          <a:p>
            <a:pPr marL="50800" algn="just">
              <a:lnSpc>
                <a:spcPct val="100000"/>
              </a:lnSpc>
              <a:spcBef>
                <a:spcPts val="145"/>
              </a:spcBef>
            </a:pPr>
            <a:r>
              <a:rPr sz="1200" dirty="0">
                <a:latin typeface="Times New Roman"/>
                <a:cs typeface="Times New Roman"/>
              </a:rPr>
              <a:t>(Bloom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Level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-</a:t>
            </a:r>
            <a:r>
              <a:rPr sz="1200" dirty="0">
                <a:latin typeface="Times New Roman"/>
                <a:cs typeface="Times New Roman"/>
              </a:rPr>
              <a:t>BL3-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BL4)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5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Assessment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Tool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Weightage:</a:t>
            </a:r>
            <a:r>
              <a:rPr sz="1200" spc="-25" dirty="0">
                <a:latin typeface="Times New Roman"/>
                <a:cs typeface="Times New Roman"/>
              </a:rPr>
              <a:t> 20%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52500" y="5035550"/>
            <a:ext cx="5867400" cy="0"/>
          </a:xfrm>
          <a:custGeom>
            <a:avLst/>
            <a:gdLst/>
            <a:ahLst/>
            <a:cxnLst/>
            <a:rect l="l" t="t" r="r" b="b"/>
            <a:pathLst>
              <a:path w="5867400">
                <a:moveTo>
                  <a:pt x="0" y="0"/>
                </a:moveTo>
                <a:lnTo>
                  <a:pt x="5867400" y="0"/>
                </a:lnTo>
              </a:path>
            </a:pathLst>
          </a:custGeom>
          <a:ln w="12700">
            <a:solidFill>
              <a:srgbClr val="87878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901700" y="5694756"/>
            <a:ext cx="1761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Times New Roman"/>
                <a:cs typeface="Times New Roman"/>
              </a:rPr>
              <a:t>QUESTIONS: 5 </a:t>
            </a:r>
            <a:r>
              <a:rPr sz="1200" b="1" spc="-10" dirty="0">
                <a:latin typeface="Times New Roman"/>
                <a:cs typeface="Times New Roman"/>
              </a:rPr>
              <a:t>Questions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473700" y="5694756"/>
            <a:ext cx="11461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0" dirty="0">
                <a:latin typeface="Times New Roman"/>
                <a:cs typeface="Times New Roman"/>
              </a:rPr>
              <a:t>Total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Marks: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spc="-25" dirty="0">
                <a:latin typeface="Times New Roman"/>
                <a:cs typeface="Times New Roman"/>
              </a:rPr>
              <a:t>100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01700" y="6947758"/>
            <a:ext cx="5961380" cy="10147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i="1" dirty="0">
                <a:latin typeface="Times New Roman"/>
                <a:cs typeface="Times New Roman"/>
              </a:rPr>
              <a:t>Code</a:t>
            </a:r>
            <a:r>
              <a:rPr sz="1200" b="1" i="1" spc="-20" dirty="0">
                <a:latin typeface="Times New Roman"/>
                <a:cs typeface="Times New Roman"/>
              </a:rPr>
              <a:t> </a:t>
            </a:r>
            <a:r>
              <a:rPr sz="1200" b="1" i="1" dirty="0">
                <a:latin typeface="Times New Roman"/>
                <a:cs typeface="Times New Roman"/>
              </a:rPr>
              <a:t>of</a:t>
            </a:r>
            <a:r>
              <a:rPr sz="1200" b="1" i="1" spc="-20" dirty="0">
                <a:latin typeface="Times New Roman"/>
                <a:cs typeface="Times New Roman"/>
              </a:rPr>
              <a:t> </a:t>
            </a:r>
            <a:r>
              <a:rPr sz="1200" b="1" i="1" spc="-10" dirty="0">
                <a:latin typeface="Times New Roman"/>
                <a:cs typeface="Times New Roman"/>
              </a:rPr>
              <a:t>Conduct:</a:t>
            </a: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4"/>
              </a:spcBef>
            </a:pPr>
            <a:endParaRPr sz="1200" dirty="0">
              <a:latin typeface="Times New Roman"/>
              <a:cs typeface="Times New Roman"/>
            </a:endParaRPr>
          </a:p>
          <a:p>
            <a:pPr marL="12700" marR="5080">
              <a:lnSpc>
                <a:spcPct val="110200"/>
              </a:lnSpc>
              <a:tabLst>
                <a:tab pos="2015489" algn="l"/>
              </a:tabLst>
            </a:pPr>
            <a:r>
              <a:rPr sz="1200" i="1" dirty="0">
                <a:latin typeface="Times New Roman"/>
                <a:cs typeface="Times New Roman"/>
              </a:rPr>
              <a:t>I </a:t>
            </a:r>
            <a:r>
              <a:rPr lang="en-US" sz="1200" i="1" dirty="0" smtClean="0">
                <a:latin typeface="Times New Roman"/>
                <a:cs typeface="Times New Roman"/>
              </a:rPr>
              <a:t> Padma </a:t>
            </a:r>
            <a:r>
              <a:rPr lang="en-US" sz="1200" i="1" dirty="0" err="1" smtClean="0">
                <a:latin typeface="Times New Roman"/>
                <a:cs typeface="Times New Roman"/>
              </a:rPr>
              <a:t>sree</a:t>
            </a:r>
            <a:r>
              <a:rPr lang="en-US" sz="1200" i="1" dirty="0" smtClean="0">
                <a:latin typeface="Times New Roman"/>
                <a:cs typeface="Times New Roman"/>
              </a:rPr>
              <a:t> D (192521241)</a:t>
            </a:r>
            <a:r>
              <a:rPr sz="1200" i="1" dirty="0" smtClean="0">
                <a:latin typeface="Times New Roman"/>
                <a:cs typeface="Times New Roman"/>
              </a:rPr>
              <a:t>(</a:t>
            </a:r>
            <a:r>
              <a:rPr sz="1200" i="1" dirty="0">
                <a:latin typeface="Times New Roman"/>
                <a:cs typeface="Times New Roman"/>
              </a:rPr>
              <a:t>Name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/</a:t>
            </a:r>
            <a:r>
              <a:rPr sz="1200" i="1" spc="-1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Reg</a:t>
            </a:r>
            <a:r>
              <a:rPr sz="1200" i="1" spc="-1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No)</a:t>
            </a:r>
            <a:r>
              <a:rPr sz="1200" i="1" spc="-1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certify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that</a:t>
            </a:r>
            <a:r>
              <a:rPr sz="1200" i="1" spc="-1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this</a:t>
            </a:r>
            <a:r>
              <a:rPr sz="1200" i="1" spc="-1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submission</a:t>
            </a:r>
            <a:r>
              <a:rPr sz="1200" i="1" spc="-1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is</a:t>
            </a:r>
            <a:r>
              <a:rPr sz="1200" i="1" spc="-1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my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original</a:t>
            </a:r>
            <a:r>
              <a:rPr sz="1200" i="1" spc="-15" dirty="0">
                <a:latin typeface="Times New Roman"/>
                <a:cs typeface="Times New Roman"/>
              </a:rPr>
              <a:t> </a:t>
            </a:r>
            <a:r>
              <a:rPr sz="1200" i="1" spc="-20" dirty="0">
                <a:latin typeface="Times New Roman"/>
                <a:cs typeface="Times New Roman"/>
              </a:rPr>
              <a:t>work </a:t>
            </a:r>
            <a:r>
              <a:rPr sz="1200" i="1" dirty="0">
                <a:latin typeface="Times New Roman"/>
                <a:cs typeface="Times New Roman"/>
              </a:rPr>
              <a:t>and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that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I</a:t>
            </a:r>
            <a:r>
              <a:rPr sz="1200" i="1" spc="-1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have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adhered</a:t>
            </a:r>
            <a:r>
              <a:rPr sz="1200" i="1" spc="-1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to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the</a:t>
            </a:r>
            <a:r>
              <a:rPr sz="1200" i="1" spc="-1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guidelines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specified</a:t>
            </a:r>
            <a:r>
              <a:rPr sz="1200" i="1" spc="-1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for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this</a:t>
            </a:r>
            <a:r>
              <a:rPr sz="1200" i="1" spc="-15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assessment.</a:t>
            </a:r>
            <a:endParaRPr sz="1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sz="1200" i="1" dirty="0">
                <a:latin typeface="Times New Roman"/>
                <a:cs typeface="Times New Roman"/>
              </a:rPr>
              <a:t>I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understand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that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any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violation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of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academic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integrity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rules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will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result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in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disciplinary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action.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01700" y="9164609"/>
            <a:ext cx="15881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i="1" dirty="0">
                <a:latin typeface="Times New Roman"/>
                <a:cs typeface="Times New Roman"/>
              </a:rPr>
              <a:t>Signature</a:t>
            </a:r>
            <a:r>
              <a:rPr sz="1200" b="1" i="1" spc="-10" dirty="0">
                <a:latin typeface="Times New Roman"/>
                <a:cs typeface="Times New Roman"/>
              </a:rPr>
              <a:t> </a:t>
            </a:r>
            <a:r>
              <a:rPr sz="1200" b="1" i="1" dirty="0">
                <a:latin typeface="Times New Roman"/>
                <a:cs typeface="Times New Roman"/>
              </a:rPr>
              <a:t>of</a:t>
            </a:r>
            <a:r>
              <a:rPr sz="1200" b="1" i="1" spc="-10" dirty="0">
                <a:latin typeface="Times New Roman"/>
                <a:cs typeface="Times New Roman"/>
              </a:rPr>
              <a:t> </a:t>
            </a:r>
            <a:r>
              <a:rPr sz="1200" b="1" i="1" dirty="0">
                <a:latin typeface="Times New Roman"/>
                <a:cs typeface="Times New Roman"/>
              </a:rPr>
              <a:t>the</a:t>
            </a:r>
            <a:r>
              <a:rPr sz="1200" b="1" i="1" spc="-10" dirty="0">
                <a:latin typeface="Times New Roman"/>
                <a:cs typeface="Times New Roman"/>
              </a:rPr>
              <a:t> student: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93243" y="495499"/>
            <a:ext cx="3973829" cy="4927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latin typeface="Arial"/>
                <a:cs typeface="Arial"/>
              </a:rPr>
              <a:t>R</a:t>
            </a:r>
            <a:r>
              <a:rPr sz="1500" b="1" spc="-5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PROGRAMMING</a:t>
            </a:r>
            <a:r>
              <a:rPr sz="1500" b="1" spc="-5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–</a:t>
            </a:r>
            <a:r>
              <a:rPr sz="1500" b="1" spc="-5" dirty="0">
                <a:latin typeface="Arial"/>
                <a:cs typeface="Arial"/>
              </a:rPr>
              <a:t> </a:t>
            </a:r>
            <a:r>
              <a:rPr sz="1500" b="1" spc="-10" dirty="0">
                <a:latin typeface="Arial"/>
                <a:cs typeface="Arial"/>
              </a:rPr>
              <a:t>ASSESSMENT</a:t>
            </a:r>
            <a:r>
              <a:rPr sz="1500" b="1" spc="-5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TOOL</a:t>
            </a:r>
            <a:r>
              <a:rPr sz="1500" b="1" spc="-5" dirty="0">
                <a:latin typeface="Arial"/>
                <a:cs typeface="Arial"/>
              </a:rPr>
              <a:t> </a:t>
            </a:r>
            <a:r>
              <a:rPr sz="1500" b="1" spc="-50" dirty="0">
                <a:latin typeface="Arial"/>
                <a:cs typeface="Arial"/>
              </a:rPr>
              <a:t>1</a:t>
            </a:r>
            <a:endParaRPr sz="15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800"/>
              </a:spcBef>
            </a:pPr>
            <a:r>
              <a:rPr sz="900" dirty="0">
                <a:latin typeface="Arial MT"/>
                <a:cs typeface="Arial MT"/>
              </a:rPr>
              <a:t>Answers – Questions 1 to </a:t>
            </a:r>
            <a:r>
              <a:rPr sz="900" spc="-50" dirty="0">
                <a:latin typeface="Arial MT"/>
                <a:cs typeface="Arial MT"/>
              </a:rPr>
              <a:t>5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67500" y="1066999"/>
            <a:ext cx="3594100" cy="7343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7005" indent="-154305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167005" algn="l"/>
              </a:tabLst>
            </a:pPr>
            <a:r>
              <a:rPr sz="1100" b="1" dirty="0">
                <a:latin typeface="Arial"/>
                <a:cs typeface="Arial"/>
              </a:rPr>
              <a:t>Student</a:t>
            </a:r>
            <a:r>
              <a:rPr sz="1100" b="1" spc="-2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Performance</a:t>
            </a:r>
            <a:r>
              <a:rPr sz="1100" b="1" spc="-20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Analysis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850" dirty="0">
                <a:latin typeface="Arial MT"/>
                <a:cs typeface="Arial MT"/>
              </a:rPr>
              <a:t>The</a:t>
            </a:r>
            <a:r>
              <a:rPr sz="850" spc="35" dirty="0">
                <a:latin typeface="Arial MT"/>
                <a:cs typeface="Arial MT"/>
              </a:rPr>
              <a:t> </a:t>
            </a:r>
            <a:r>
              <a:rPr sz="850" dirty="0">
                <a:latin typeface="Arial MT"/>
                <a:cs typeface="Arial MT"/>
              </a:rPr>
              <a:t>following</a:t>
            </a:r>
            <a:r>
              <a:rPr sz="850" spc="35" dirty="0">
                <a:latin typeface="Arial MT"/>
                <a:cs typeface="Arial MT"/>
              </a:rPr>
              <a:t> </a:t>
            </a:r>
            <a:r>
              <a:rPr sz="850" dirty="0">
                <a:latin typeface="Arial MT"/>
                <a:cs typeface="Arial MT"/>
              </a:rPr>
              <a:t>R</a:t>
            </a:r>
            <a:r>
              <a:rPr sz="850" spc="35" dirty="0">
                <a:latin typeface="Arial MT"/>
                <a:cs typeface="Arial MT"/>
              </a:rPr>
              <a:t> </a:t>
            </a:r>
            <a:r>
              <a:rPr sz="850" dirty="0">
                <a:latin typeface="Arial MT"/>
                <a:cs typeface="Arial MT"/>
              </a:rPr>
              <a:t>program</a:t>
            </a:r>
            <a:r>
              <a:rPr sz="850" spc="40" dirty="0">
                <a:latin typeface="Arial MT"/>
                <a:cs typeface="Arial MT"/>
              </a:rPr>
              <a:t> </a:t>
            </a:r>
            <a:r>
              <a:rPr sz="850" dirty="0">
                <a:latin typeface="Arial MT"/>
                <a:cs typeface="Arial MT"/>
              </a:rPr>
              <a:t>satisfies</a:t>
            </a:r>
            <a:r>
              <a:rPr sz="850" spc="35" dirty="0">
                <a:latin typeface="Arial MT"/>
                <a:cs typeface="Arial MT"/>
              </a:rPr>
              <a:t> </a:t>
            </a:r>
            <a:r>
              <a:rPr sz="850" dirty="0">
                <a:latin typeface="Arial MT"/>
                <a:cs typeface="Arial MT"/>
              </a:rPr>
              <a:t>the</a:t>
            </a:r>
            <a:r>
              <a:rPr sz="850" spc="35" dirty="0">
                <a:latin typeface="Arial MT"/>
                <a:cs typeface="Arial MT"/>
              </a:rPr>
              <a:t> </a:t>
            </a:r>
            <a:r>
              <a:rPr sz="850" dirty="0">
                <a:latin typeface="Arial MT"/>
                <a:cs typeface="Arial MT"/>
              </a:rPr>
              <a:t>requirements</a:t>
            </a:r>
            <a:r>
              <a:rPr sz="850" spc="40" dirty="0">
                <a:latin typeface="Arial MT"/>
                <a:cs typeface="Arial MT"/>
              </a:rPr>
              <a:t> </a:t>
            </a:r>
            <a:r>
              <a:rPr sz="850" dirty="0">
                <a:latin typeface="Arial MT"/>
                <a:cs typeface="Arial MT"/>
              </a:rPr>
              <a:t>given</a:t>
            </a:r>
            <a:r>
              <a:rPr sz="850" spc="35" dirty="0">
                <a:latin typeface="Arial MT"/>
                <a:cs typeface="Arial MT"/>
              </a:rPr>
              <a:t> </a:t>
            </a:r>
            <a:r>
              <a:rPr sz="850" dirty="0">
                <a:latin typeface="Arial MT"/>
                <a:cs typeface="Arial MT"/>
              </a:rPr>
              <a:t>in</a:t>
            </a:r>
            <a:r>
              <a:rPr sz="850" spc="35" dirty="0">
                <a:latin typeface="Arial MT"/>
                <a:cs typeface="Arial MT"/>
              </a:rPr>
              <a:t> </a:t>
            </a:r>
            <a:r>
              <a:rPr sz="850" dirty="0">
                <a:latin typeface="Arial MT"/>
                <a:cs typeface="Arial MT"/>
              </a:rPr>
              <a:t>the</a:t>
            </a:r>
            <a:r>
              <a:rPr sz="850" spc="35" dirty="0">
                <a:latin typeface="Arial MT"/>
                <a:cs typeface="Arial MT"/>
              </a:rPr>
              <a:t> </a:t>
            </a:r>
            <a:r>
              <a:rPr sz="850" spc="-10" dirty="0">
                <a:latin typeface="Arial MT"/>
                <a:cs typeface="Arial MT"/>
              </a:rPr>
              <a:t>question.</a:t>
            </a:r>
            <a:endParaRPr sz="850">
              <a:latin typeface="Arial MT"/>
              <a:cs typeface="Arial MT"/>
            </a:endParaRPr>
          </a:p>
          <a:p>
            <a:pPr marL="114300" marR="2538730">
              <a:lnSpc>
                <a:spcPct val="105100"/>
              </a:lnSpc>
              <a:spcBef>
                <a:spcPts val="450"/>
              </a:spcBef>
            </a:pPr>
            <a:r>
              <a:rPr sz="650" dirty="0">
                <a:latin typeface="Courier New"/>
                <a:cs typeface="Courier New"/>
              </a:rPr>
              <a:t>marks</a:t>
            </a:r>
            <a:r>
              <a:rPr sz="650" spc="80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&lt;-</a:t>
            </a:r>
            <a:r>
              <a:rPr sz="650" spc="85" dirty="0">
                <a:latin typeface="Courier New"/>
                <a:cs typeface="Courier New"/>
              </a:rPr>
              <a:t> </a:t>
            </a:r>
            <a:r>
              <a:rPr sz="650" spc="-10" dirty="0">
                <a:latin typeface="Courier New"/>
                <a:cs typeface="Courier New"/>
              </a:rPr>
              <a:t>matrix(c( </a:t>
            </a:r>
            <a:r>
              <a:rPr sz="650" dirty="0">
                <a:latin typeface="Courier New"/>
                <a:cs typeface="Courier New"/>
              </a:rPr>
              <a:t>78,</a:t>
            </a:r>
            <a:r>
              <a:rPr sz="650" spc="70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85,</a:t>
            </a:r>
            <a:r>
              <a:rPr sz="650" spc="75" dirty="0">
                <a:latin typeface="Courier New"/>
                <a:cs typeface="Courier New"/>
              </a:rPr>
              <a:t> </a:t>
            </a:r>
            <a:r>
              <a:rPr sz="650" spc="-25" dirty="0">
                <a:latin typeface="Courier New"/>
                <a:cs typeface="Courier New"/>
              </a:rPr>
              <a:t>82,</a:t>
            </a:r>
            <a:endParaRPr sz="650">
              <a:latin typeface="Courier New"/>
              <a:cs typeface="Courier New"/>
            </a:endParaRPr>
          </a:p>
          <a:p>
            <a:pPr marL="114300">
              <a:lnSpc>
                <a:spcPct val="100000"/>
              </a:lnSpc>
              <a:spcBef>
                <a:spcPts val="40"/>
              </a:spcBef>
            </a:pPr>
            <a:r>
              <a:rPr sz="650" dirty="0">
                <a:latin typeface="Courier New"/>
                <a:cs typeface="Courier New"/>
              </a:rPr>
              <a:t>65,</a:t>
            </a:r>
            <a:r>
              <a:rPr sz="650" spc="70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72,</a:t>
            </a:r>
            <a:r>
              <a:rPr sz="650" spc="75" dirty="0">
                <a:latin typeface="Courier New"/>
                <a:cs typeface="Courier New"/>
              </a:rPr>
              <a:t> </a:t>
            </a:r>
            <a:r>
              <a:rPr sz="650" spc="-25" dirty="0">
                <a:latin typeface="Courier New"/>
                <a:cs typeface="Courier New"/>
              </a:rPr>
              <a:t>70,</a:t>
            </a:r>
            <a:endParaRPr sz="650">
              <a:latin typeface="Courier New"/>
              <a:cs typeface="Courier New"/>
            </a:endParaRPr>
          </a:p>
          <a:p>
            <a:pPr marL="114300">
              <a:lnSpc>
                <a:spcPct val="100000"/>
              </a:lnSpc>
              <a:spcBef>
                <a:spcPts val="40"/>
              </a:spcBef>
            </a:pPr>
            <a:r>
              <a:rPr sz="650" dirty="0">
                <a:latin typeface="Courier New"/>
                <a:cs typeface="Courier New"/>
              </a:rPr>
              <a:t>90,</a:t>
            </a:r>
            <a:r>
              <a:rPr sz="650" spc="70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88,</a:t>
            </a:r>
            <a:r>
              <a:rPr sz="650" spc="75" dirty="0">
                <a:latin typeface="Courier New"/>
                <a:cs typeface="Courier New"/>
              </a:rPr>
              <a:t> </a:t>
            </a:r>
            <a:r>
              <a:rPr sz="650" spc="-25" dirty="0">
                <a:latin typeface="Courier New"/>
                <a:cs typeface="Courier New"/>
              </a:rPr>
              <a:t>95,</a:t>
            </a:r>
            <a:endParaRPr sz="650">
              <a:latin typeface="Courier New"/>
              <a:cs typeface="Courier New"/>
            </a:endParaRPr>
          </a:p>
          <a:p>
            <a:pPr marL="114300">
              <a:lnSpc>
                <a:spcPct val="100000"/>
              </a:lnSpc>
              <a:spcBef>
                <a:spcPts val="40"/>
              </a:spcBef>
            </a:pPr>
            <a:r>
              <a:rPr sz="650" dirty="0">
                <a:latin typeface="Courier New"/>
                <a:cs typeface="Courier New"/>
              </a:rPr>
              <a:t>55,</a:t>
            </a:r>
            <a:r>
              <a:rPr sz="650" spc="70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60,</a:t>
            </a:r>
            <a:r>
              <a:rPr sz="650" spc="75" dirty="0">
                <a:latin typeface="Courier New"/>
                <a:cs typeface="Courier New"/>
              </a:rPr>
              <a:t> </a:t>
            </a:r>
            <a:r>
              <a:rPr sz="650" spc="-25" dirty="0">
                <a:latin typeface="Courier New"/>
                <a:cs typeface="Courier New"/>
              </a:rPr>
              <a:t>58,</a:t>
            </a:r>
            <a:endParaRPr sz="650">
              <a:latin typeface="Courier New"/>
              <a:cs typeface="Courier New"/>
            </a:endParaRPr>
          </a:p>
          <a:p>
            <a:pPr marL="114300">
              <a:lnSpc>
                <a:spcPct val="100000"/>
              </a:lnSpc>
              <a:spcBef>
                <a:spcPts val="40"/>
              </a:spcBef>
            </a:pPr>
            <a:r>
              <a:rPr sz="650" dirty="0">
                <a:latin typeface="Courier New"/>
                <a:cs typeface="Courier New"/>
              </a:rPr>
              <a:t>82,</a:t>
            </a:r>
            <a:r>
              <a:rPr sz="650" spc="70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79,</a:t>
            </a:r>
            <a:r>
              <a:rPr sz="650" spc="75" dirty="0">
                <a:latin typeface="Courier New"/>
                <a:cs typeface="Courier New"/>
              </a:rPr>
              <a:t> </a:t>
            </a:r>
            <a:r>
              <a:rPr sz="650" spc="-25" dirty="0">
                <a:latin typeface="Courier New"/>
                <a:cs typeface="Courier New"/>
              </a:rPr>
              <a:t>85,</a:t>
            </a:r>
            <a:endParaRPr sz="650">
              <a:latin typeface="Courier New"/>
              <a:cs typeface="Courier New"/>
            </a:endParaRPr>
          </a:p>
          <a:p>
            <a:pPr marL="114300">
              <a:lnSpc>
                <a:spcPct val="100000"/>
              </a:lnSpc>
              <a:spcBef>
                <a:spcPts val="40"/>
              </a:spcBef>
            </a:pPr>
            <a:r>
              <a:rPr sz="650" dirty="0">
                <a:latin typeface="Courier New"/>
                <a:cs typeface="Courier New"/>
              </a:rPr>
              <a:t>70,</a:t>
            </a:r>
            <a:r>
              <a:rPr sz="650" spc="70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75,</a:t>
            </a:r>
            <a:r>
              <a:rPr sz="650" spc="75" dirty="0">
                <a:latin typeface="Courier New"/>
                <a:cs typeface="Courier New"/>
              </a:rPr>
              <a:t> </a:t>
            </a:r>
            <a:r>
              <a:rPr sz="650" spc="-25" dirty="0">
                <a:latin typeface="Courier New"/>
                <a:cs typeface="Courier New"/>
              </a:rPr>
              <a:t>72,</a:t>
            </a:r>
            <a:endParaRPr sz="650">
              <a:latin typeface="Courier New"/>
              <a:cs typeface="Courier New"/>
            </a:endParaRPr>
          </a:p>
          <a:p>
            <a:pPr marL="114300">
              <a:lnSpc>
                <a:spcPct val="100000"/>
              </a:lnSpc>
              <a:spcBef>
                <a:spcPts val="40"/>
              </a:spcBef>
            </a:pPr>
            <a:r>
              <a:rPr sz="650" dirty="0">
                <a:latin typeface="Courier New"/>
                <a:cs typeface="Courier New"/>
              </a:rPr>
              <a:t>92,</a:t>
            </a:r>
            <a:r>
              <a:rPr sz="650" spc="70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91,</a:t>
            </a:r>
            <a:r>
              <a:rPr sz="650" spc="75" dirty="0">
                <a:latin typeface="Courier New"/>
                <a:cs typeface="Courier New"/>
              </a:rPr>
              <a:t> </a:t>
            </a:r>
            <a:r>
              <a:rPr sz="650" spc="-25" dirty="0">
                <a:latin typeface="Courier New"/>
                <a:cs typeface="Courier New"/>
              </a:rPr>
              <a:t>89,</a:t>
            </a:r>
            <a:endParaRPr sz="650">
              <a:latin typeface="Courier New"/>
              <a:cs typeface="Courier New"/>
            </a:endParaRPr>
          </a:p>
          <a:p>
            <a:pPr marL="114300">
              <a:lnSpc>
                <a:spcPct val="100000"/>
              </a:lnSpc>
              <a:spcBef>
                <a:spcPts val="40"/>
              </a:spcBef>
            </a:pPr>
            <a:r>
              <a:rPr sz="650" dirty="0">
                <a:latin typeface="Courier New"/>
                <a:cs typeface="Courier New"/>
              </a:rPr>
              <a:t>68,</a:t>
            </a:r>
            <a:r>
              <a:rPr sz="650" spc="70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64,</a:t>
            </a:r>
            <a:r>
              <a:rPr sz="650" spc="75" dirty="0">
                <a:latin typeface="Courier New"/>
                <a:cs typeface="Courier New"/>
              </a:rPr>
              <a:t> </a:t>
            </a:r>
            <a:r>
              <a:rPr sz="650" spc="-25" dirty="0">
                <a:latin typeface="Courier New"/>
                <a:cs typeface="Courier New"/>
              </a:rPr>
              <a:t>71,</a:t>
            </a:r>
            <a:endParaRPr sz="650">
              <a:latin typeface="Courier New"/>
              <a:cs typeface="Courier New"/>
            </a:endParaRPr>
          </a:p>
          <a:p>
            <a:pPr marL="114300">
              <a:lnSpc>
                <a:spcPct val="100000"/>
              </a:lnSpc>
              <a:spcBef>
                <a:spcPts val="40"/>
              </a:spcBef>
            </a:pPr>
            <a:r>
              <a:rPr sz="650" dirty="0">
                <a:latin typeface="Courier New"/>
                <a:cs typeface="Courier New"/>
              </a:rPr>
              <a:t>76,</a:t>
            </a:r>
            <a:r>
              <a:rPr sz="650" spc="70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80,</a:t>
            </a:r>
            <a:r>
              <a:rPr sz="650" spc="75" dirty="0">
                <a:latin typeface="Courier New"/>
                <a:cs typeface="Courier New"/>
              </a:rPr>
              <a:t> </a:t>
            </a:r>
            <a:r>
              <a:rPr sz="650" spc="-25" dirty="0">
                <a:latin typeface="Courier New"/>
                <a:cs typeface="Courier New"/>
              </a:rPr>
              <a:t>78,</a:t>
            </a:r>
            <a:endParaRPr sz="650">
              <a:latin typeface="Courier New"/>
              <a:cs typeface="Courier New"/>
            </a:endParaRPr>
          </a:p>
          <a:p>
            <a:pPr marL="114300">
              <a:lnSpc>
                <a:spcPct val="100000"/>
              </a:lnSpc>
              <a:spcBef>
                <a:spcPts val="40"/>
              </a:spcBef>
            </a:pPr>
            <a:r>
              <a:rPr sz="650" dirty="0">
                <a:latin typeface="Courier New"/>
                <a:cs typeface="Courier New"/>
              </a:rPr>
              <a:t>88,</a:t>
            </a:r>
            <a:r>
              <a:rPr sz="650" spc="70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86,</a:t>
            </a:r>
            <a:r>
              <a:rPr sz="650" spc="75" dirty="0">
                <a:latin typeface="Courier New"/>
                <a:cs typeface="Courier New"/>
              </a:rPr>
              <a:t> </a:t>
            </a:r>
            <a:r>
              <a:rPr sz="650" spc="-35" dirty="0">
                <a:latin typeface="Courier New"/>
                <a:cs typeface="Courier New"/>
              </a:rPr>
              <a:t>90</a:t>
            </a:r>
            <a:endParaRPr sz="650">
              <a:latin typeface="Courier New"/>
              <a:cs typeface="Courier New"/>
            </a:endParaRPr>
          </a:p>
          <a:p>
            <a:pPr marL="114300">
              <a:lnSpc>
                <a:spcPct val="100000"/>
              </a:lnSpc>
              <a:spcBef>
                <a:spcPts val="40"/>
              </a:spcBef>
            </a:pPr>
            <a:r>
              <a:rPr sz="650" dirty="0">
                <a:latin typeface="Courier New"/>
                <a:cs typeface="Courier New"/>
              </a:rPr>
              <a:t>),</a:t>
            </a:r>
            <a:r>
              <a:rPr sz="650" spc="55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nrow</a:t>
            </a:r>
            <a:r>
              <a:rPr sz="650" spc="65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=</a:t>
            </a:r>
            <a:r>
              <a:rPr sz="650" spc="70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10,</a:t>
            </a:r>
            <a:r>
              <a:rPr sz="650" spc="65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byrow</a:t>
            </a:r>
            <a:r>
              <a:rPr sz="650" spc="65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=</a:t>
            </a:r>
            <a:r>
              <a:rPr sz="650" spc="70" dirty="0">
                <a:latin typeface="Courier New"/>
                <a:cs typeface="Courier New"/>
              </a:rPr>
              <a:t> </a:t>
            </a:r>
            <a:r>
              <a:rPr sz="650" spc="-10" dirty="0">
                <a:latin typeface="Courier New"/>
                <a:cs typeface="Courier New"/>
              </a:rPr>
              <a:t>TRUE)</a:t>
            </a:r>
            <a:endParaRPr sz="6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650">
              <a:latin typeface="Courier New"/>
              <a:cs typeface="Courier New"/>
            </a:endParaRPr>
          </a:p>
          <a:p>
            <a:pPr marL="114300" marR="414020">
              <a:lnSpc>
                <a:spcPct val="105100"/>
              </a:lnSpc>
              <a:spcBef>
                <a:spcPts val="5"/>
              </a:spcBef>
            </a:pPr>
            <a:r>
              <a:rPr sz="650" dirty="0">
                <a:latin typeface="Courier New"/>
                <a:cs typeface="Courier New"/>
              </a:rPr>
              <a:t>colnames(marks)</a:t>
            </a:r>
            <a:r>
              <a:rPr sz="650" spc="220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&lt;-</a:t>
            </a:r>
            <a:r>
              <a:rPr sz="650" spc="225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c("Mathematics",</a:t>
            </a:r>
            <a:r>
              <a:rPr sz="650" spc="220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"Physics",</a:t>
            </a:r>
            <a:r>
              <a:rPr sz="650" spc="225" dirty="0">
                <a:latin typeface="Courier New"/>
                <a:cs typeface="Courier New"/>
              </a:rPr>
              <a:t> </a:t>
            </a:r>
            <a:r>
              <a:rPr sz="650" spc="-10" dirty="0">
                <a:latin typeface="Courier New"/>
                <a:cs typeface="Courier New"/>
              </a:rPr>
              <a:t>"Chemistry") </a:t>
            </a:r>
            <a:r>
              <a:rPr sz="650" dirty="0">
                <a:latin typeface="Courier New"/>
                <a:cs typeface="Courier New"/>
              </a:rPr>
              <a:t>rownames(marks)</a:t>
            </a:r>
            <a:r>
              <a:rPr sz="650" spc="229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&lt;-</a:t>
            </a:r>
            <a:r>
              <a:rPr sz="650" spc="235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paste0("Student",</a:t>
            </a:r>
            <a:r>
              <a:rPr sz="650" spc="235" dirty="0">
                <a:latin typeface="Courier New"/>
                <a:cs typeface="Courier New"/>
              </a:rPr>
              <a:t> </a:t>
            </a:r>
            <a:r>
              <a:rPr sz="650" spc="-10" dirty="0">
                <a:latin typeface="Courier New"/>
                <a:cs typeface="Courier New"/>
              </a:rPr>
              <a:t>1:10)</a:t>
            </a:r>
            <a:endParaRPr sz="6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650">
              <a:latin typeface="Courier New"/>
              <a:cs typeface="Courier New"/>
            </a:endParaRPr>
          </a:p>
          <a:p>
            <a:pPr marL="114300" marR="1864995">
              <a:lnSpc>
                <a:spcPct val="105100"/>
              </a:lnSpc>
            </a:pPr>
            <a:r>
              <a:rPr sz="650" dirty="0">
                <a:latin typeface="Courier New"/>
                <a:cs typeface="Courier New"/>
              </a:rPr>
              <a:t>subject_avg</a:t>
            </a:r>
            <a:r>
              <a:rPr sz="650" spc="140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&lt;-</a:t>
            </a:r>
            <a:r>
              <a:rPr sz="650" spc="140" dirty="0">
                <a:latin typeface="Courier New"/>
                <a:cs typeface="Courier New"/>
              </a:rPr>
              <a:t> </a:t>
            </a:r>
            <a:r>
              <a:rPr sz="650" spc="-10" dirty="0">
                <a:latin typeface="Courier New"/>
                <a:cs typeface="Courier New"/>
              </a:rPr>
              <a:t>colMeans(marks) </a:t>
            </a:r>
            <a:r>
              <a:rPr sz="650" dirty="0">
                <a:latin typeface="Courier New"/>
                <a:cs typeface="Courier New"/>
              </a:rPr>
              <a:t>highest</a:t>
            </a:r>
            <a:r>
              <a:rPr sz="650" spc="125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&lt;-</a:t>
            </a:r>
            <a:r>
              <a:rPr sz="650" spc="125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apply(marks,</a:t>
            </a:r>
            <a:r>
              <a:rPr sz="650" spc="125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2,</a:t>
            </a:r>
            <a:r>
              <a:rPr sz="650" spc="130" dirty="0">
                <a:latin typeface="Courier New"/>
                <a:cs typeface="Courier New"/>
              </a:rPr>
              <a:t> </a:t>
            </a:r>
            <a:r>
              <a:rPr sz="650" spc="-20" dirty="0">
                <a:latin typeface="Courier New"/>
                <a:cs typeface="Courier New"/>
              </a:rPr>
              <a:t>max) </a:t>
            </a:r>
            <a:r>
              <a:rPr sz="650" dirty="0">
                <a:latin typeface="Courier New"/>
                <a:cs typeface="Courier New"/>
              </a:rPr>
              <a:t>lowest</a:t>
            </a:r>
            <a:r>
              <a:rPr sz="650" spc="120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&lt;-</a:t>
            </a:r>
            <a:r>
              <a:rPr sz="650" spc="120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apply(marks,</a:t>
            </a:r>
            <a:r>
              <a:rPr sz="650" spc="120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2,</a:t>
            </a:r>
            <a:r>
              <a:rPr sz="650" spc="125" dirty="0">
                <a:latin typeface="Courier New"/>
                <a:cs typeface="Courier New"/>
              </a:rPr>
              <a:t> </a:t>
            </a:r>
            <a:r>
              <a:rPr sz="650" spc="-20" dirty="0">
                <a:latin typeface="Courier New"/>
                <a:cs typeface="Courier New"/>
              </a:rPr>
              <a:t>min)</a:t>
            </a:r>
            <a:endParaRPr sz="6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650">
              <a:latin typeface="Courier New"/>
              <a:cs typeface="Courier New"/>
            </a:endParaRPr>
          </a:p>
          <a:p>
            <a:pPr marL="114300" marR="1916430">
              <a:lnSpc>
                <a:spcPct val="105100"/>
              </a:lnSpc>
            </a:pPr>
            <a:r>
              <a:rPr sz="650" dirty="0">
                <a:latin typeface="Courier New"/>
                <a:cs typeface="Courier New"/>
              </a:rPr>
              <a:t>overall_avg</a:t>
            </a:r>
            <a:r>
              <a:rPr sz="650" spc="140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&lt;-</a:t>
            </a:r>
            <a:r>
              <a:rPr sz="650" spc="140" dirty="0">
                <a:latin typeface="Courier New"/>
                <a:cs typeface="Courier New"/>
              </a:rPr>
              <a:t> </a:t>
            </a:r>
            <a:r>
              <a:rPr sz="650" spc="-10" dirty="0">
                <a:latin typeface="Courier New"/>
                <a:cs typeface="Courier New"/>
              </a:rPr>
              <a:t>mean(marks) </a:t>
            </a:r>
            <a:r>
              <a:rPr sz="650" dirty="0">
                <a:latin typeface="Courier New"/>
                <a:cs typeface="Courier New"/>
              </a:rPr>
              <a:t>student_avg</a:t>
            </a:r>
            <a:r>
              <a:rPr sz="650" spc="140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&lt;-</a:t>
            </a:r>
            <a:r>
              <a:rPr sz="650" spc="140" dirty="0">
                <a:latin typeface="Courier New"/>
                <a:cs typeface="Courier New"/>
              </a:rPr>
              <a:t> </a:t>
            </a:r>
            <a:r>
              <a:rPr sz="650" spc="-10" dirty="0">
                <a:latin typeface="Courier New"/>
                <a:cs typeface="Courier New"/>
              </a:rPr>
              <a:t>rowMeans(marks)</a:t>
            </a:r>
            <a:endParaRPr sz="650">
              <a:latin typeface="Courier New"/>
              <a:cs typeface="Courier New"/>
            </a:endParaRPr>
          </a:p>
          <a:p>
            <a:pPr marL="114300">
              <a:lnSpc>
                <a:spcPct val="100000"/>
              </a:lnSpc>
              <a:spcBef>
                <a:spcPts val="40"/>
              </a:spcBef>
            </a:pPr>
            <a:r>
              <a:rPr sz="650" dirty="0">
                <a:latin typeface="Courier New"/>
                <a:cs typeface="Courier New"/>
              </a:rPr>
              <a:t>above_overall</a:t>
            </a:r>
            <a:r>
              <a:rPr sz="650" spc="135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&lt;-</a:t>
            </a:r>
            <a:r>
              <a:rPr sz="650" spc="140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marks[student_avg</a:t>
            </a:r>
            <a:r>
              <a:rPr sz="650" spc="140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&gt;</a:t>
            </a:r>
            <a:r>
              <a:rPr sz="650" spc="135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overall_avg,</a:t>
            </a:r>
            <a:r>
              <a:rPr sz="650" spc="140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,</a:t>
            </a:r>
            <a:r>
              <a:rPr sz="650" spc="140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drop</a:t>
            </a:r>
            <a:r>
              <a:rPr sz="650" spc="135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=</a:t>
            </a:r>
            <a:r>
              <a:rPr sz="650" spc="140" dirty="0">
                <a:latin typeface="Courier New"/>
                <a:cs typeface="Courier New"/>
              </a:rPr>
              <a:t> </a:t>
            </a:r>
            <a:r>
              <a:rPr sz="650" spc="-10" dirty="0">
                <a:latin typeface="Courier New"/>
                <a:cs typeface="Courier New"/>
              </a:rPr>
              <a:t>FALSE]</a:t>
            </a:r>
            <a:endParaRPr sz="6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650">
              <a:latin typeface="Courier New"/>
              <a:cs typeface="Courier New"/>
            </a:endParaRPr>
          </a:p>
          <a:p>
            <a:pPr marL="114300" marR="1864995">
              <a:lnSpc>
                <a:spcPct val="105100"/>
              </a:lnSpc>
            </a:pPr>
            <a:r>
              <a:rPr sz="650" dirty="0">
                <a:latin typeface="Courier New"/>
                <a:cs typeface="Courier New"/>
              </a:rPr>
              <a:t>cat("Subject-wise</a:t>
            </a:r>
            <a:r>
              <a:rPr sz="650" spc="340" dirty="0">
                <a:latin typeface="Courier New"/>
                <a:cs typeface="Courier New"/>
              </a:rPr>
              <a:t> </a:t>
            </a:r>
            <a:r>
              <a:rPr sz="650" spc="-10" dirty="0">
                <a:latin typeface="Courier New"/>
                <a:cs typeface="Courier New"/>
              </a:rPr>
              <a:t>averages:\n") print(subject_avg)</a:t>
            </a:r>
            <a:endParaRPr sz="6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650">
              <a:latin typeface="Courier New"/>
              <a:cs typeface="Courier New"/>
            </a:endParaRPr>
          </a:p>
          <a:p>
            <a:pPr marL="114300" marR="1450340">
              <a:lnSpc>
                <a:spcPct val="105100"/>
              </a:lnSpc>
              <a:spcBef>
                <a:spcPts val="5"/>
              </a:spcBef>
            </a:pPr>
            <a:r>
              <a:rPr sz="650" dirty="0">
                <a:latin typeface="Courier New"/>
                <a:cs typeface="Courier New"/>
              </a:rPr>
              <a:t>cat("Highest</a:t>
            </a:r>
            <a:r>
              <a:rPr sz="650" spc="125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marks</a:t>
            </a:r>
            <a:r>
              <a:rPr sz="650" spc="125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in</a:t>
            </a:r>
            <a:r>
              <a:rPr sz="650" spc="125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each</a:t>
            </a:r>
            <a:r>
              <a:rPr sz="650" spc="130" dirty="0">
                <a:latin typeface="Courier New"/>
                <a:cs typeface="Courier New"/>
              </a:rPr>
              <a:t> </a:t>
            </a:r>
            <a:r>
              <a:rPr sz="650" spc="-10" dirty="0">
                <a:latin typeface="Courier New"/>
                <a:cs typeface="Courier New"/>
              </a:rPr>
              <a:t>subject:\n") print(highest)</a:t>
            </a:r>
            <a:endParaRPr sz="6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650">
              <a:latin typeface="Courier New"/>
              <a:cs typeface="Courier New"/>
            </a:endParaRPr>
          </a:p>
          <a:p>
            <a:pPr marL="114300" marR="1501775">
              <a:lnSpc>
                <a:spcPct val="105100"/>
              </a:lnSpc>
            </a:pPr>
            <a:r>
              <a:rPr sz="650" dirty="0">
                <a:latin typeface="Courier New"/>
                <a:cs typeface="Courier New"/>
              </a:rPr>
              <a:t>cat("Lowest</a:t>
            </a:r>
            <a:r>
              <a:rPr sz="650" spc="120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marks</a:t>
            </a:r>
            <a:r>
              <a:rPr sz="650" spc="120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in</a:t>
            </a:r>
            <a:r>
              <a:rPr sz="650" spc="120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each</a:t>
            </a:r>
            <a:r>
              <a:rPr sz="650" spc="125" dirty="0">
                <a:latin typeface="Courier New"/>
                <a:cs typeface="Courier New"/>
              </a:rPr>
              <a:t> </a:t>
            </a:r>
            <a:r>
              <a:rPr sz="650" spc="-10" dirty="0">
                <a:latin typeface="Courier New"/>
                <a:cs typeface="Courier New"/>
              </a:rPr>
              <a:t>subject:\n") print(lowest)</a:t>
            </a:r>
            <a:endParaRPr sz="6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650">
              <a:latin typeface="Courier New"/>
              <a:cs typeface="Courier New"/>
            </a:endParaRPr>
          </a:p>
          <a:p>
            <a:pPr marL="114300" marR="983615">
              <a:lnSpc>
                <a:spcPct val="105100"/>
              </a:lnSpc>
            </a:pPr>
            <a:r>
              <a:rPr sz="650" dirty="0">
                <a:latin typeface="Courier New"/>
                <a:cs typeface="Courier New"/>
              </a:rPr>
              <a:t>cat("Overall</a:t>
            </a:r>
            <a:r>
              <a:rPr sz="650" spc="229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average:",</a:t>
            </a:r>
            <a:r>
              <a:rPr sz="650" spc="235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overall_avg,</a:t>
            </a:r>
            <a:r>
              <a:rPr sz="650" spc="235" dirty="0">
                <a:latin typeface="Courier New"/>
                <a:cs typeface="Courier New"/>
              </a:rPr>
              <a:t> </a:t>
            </a:r>
            <a:r>
              <a:rPr sz="650" spc="-10" dirty="0">
                <a:latin typeface="Courier New"/>
                <a:cs typeface="Courier New"/>
              </a:rPr>
              <a:t>"\n") </a:t>
            </a:r>
            <a:r>
              <a:rPr sz="650" dirty="0">
                <a:latin typeface="Courier New"/>
                <a:cs typeface="Courier New"/>
              </a:rPr>
              <a:t>cat("Students</a:t>
            </a:r>
            <a:r>
              <a:rPr sz="650" spc="170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scoring</a:t>
            </a:r>
            <a:r>
              <a:rPr sz="650" spc="170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above</a:t>
            </a:r>
            <a:r>
              <a:rPr sz="650" spc="170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overall</a:t>
            </a:r>
            <a:r>
              <a:rPr sz="650" spc="170" dirty="0">
                <a:latin typeface="Courier New"/>
                <a:cs typeface="Courier New"/>
              </a:rPr>
              <a:t> </a:t>
            </a:r>
            <a:r>
              <a:rPr sz="650" spc="-10" dirty="0">
                <a:latin typeface="Courier New"/>
                <a:cs typeface="Courier New"/>
              </a:rPr>
              <a:t>average:\n") print(above_overall)</a:t>
            </a:r>
            <a:endParaRPr sz="650">
              <a:latin typeface="Courier New"/>
              <a:cs typeface="Courier New"/>
            </a:endParaRPr>
          </a:p>
          <a:p>
            <a:pPr marL="167005" indent="-154305">
              <a:lnSpc>
                <a:spcPct val="100000"/>
              </a:lnSpc>
              <a:spcBef>
                <a:spcPts val="610"/>
              </a:spcBef>
              <a:buAutoNum type="arabicPeriod" startAt="2"/>
              <a:tabLst>
                <a:tab pos="167005" algn="l"/>
              </a:tabLst>
            </a:pPr>
            <a:r>
              <a:rPr sz="1100" b="1" dirty="0">
                <a:latin typeface="Arial"/>
                <a:cs typeface="Arial"/>
              </a:rPr>
              <a:t>Employee</a:t>
            </a:r>
            <a:r>
              <a:rPr sz="1100" b="1" spc="-3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Salary</a:t>
            </a:r>
            <a:r>
              <a:rPr sz="1100" b="1" spc="-25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Processing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850" dirty="0">
                <a:latin typeface="Arial MT"/>
                <a:cs typeface="Arial MT"/>
              </a:rPr>
              <a:t>The</a:t>
            </a:r>
            <a:r>
              <a:rPr sz="850" spc="35" dirty="0">
                <a:latin typeface="Arial MT"/>
                <a:cs typeface="Arial MT"/>
              </a:rPr>
              <a:t> </a:t>
            </a:r>
            <a:r>
              <a:rPr sz="850" dirty="0">
                <a:latin typeface="Arial MT"/>
                <a:cs typeface="Arial MT"/>
              </a:rPr>
              <a:t>following</a:t>
            </a:r>
            <a:r>
              <a:rPr sz="850" spc="35" dirty="0">
                <a:latin typeface="Arial MT"/>
                <a:cs typeface="Arial MT"/>
              </a:rPr>
              <a:t> </a:t>
            </a:r>
            <a:r>
              <a:rPr sz="850" dirty="0">
                <a:latin typeface="Arial MT"/>
                <a:cs typeface="Arial MT"/>
              </a:rPr>
              <a:t>R</a:t>
            </a:r>
            <a:r>
              <a:rPr sz="850" spc="35" dirty="0">
                <a:latin typeface="Arial MT"/>
                <a:cs typeface="Arial MT"/>
              </a:rPr>
              <a:t> </a:t>
            </a:r>
            <a:r>
              <a:rPr sz="850" dirty="0">
                <a:latin typeface="Arial MT"/>
                <a:cs typeface="Arial MT"/>
              </a:rPr>
              <a:t>program</a:t>
            </a:r>
            <a:r>
              <a:rPr sz="850" spc="40" dirty="0">
                <a:latin typeface="Arial MT"/>
                <a:cs typeface="Arial MT"/>
              </a:rPr>
              <a:t> </a:t>
            </a:r>
            <a:r>
              <a:rPr sz="850" dirty="0">
                <a:latin typeface="Arial MT"/>
                <a:cs typeface="Arial MT"/>
              </a:rPr>
              <a:t>satisfies</a:t>
            </a:r>
            <a:r>
              <a:rPr sz="850" spc="35" dirty="0">
                <a:latin typeface="Arial MT"/>
                <a:cs typeface="Arial MT"/>
              </a:rPr>
              <a:t> </a:t>
            </a:r>
            <a:r>
              <a:rPr sz="850" dirty="0">
                <a:latin typeface="Arial MT"/>
                <a:cs typeface="Arial MT"/>
              </a:rPr>
              <a:t>the</a:t>
            </a:r>
            <a:r>
              <a:rPr sz="850" spc="35" dirty="0">
                <a:latin typeface="Arial MT"/>
                <a:cs typeface="Arial MT"/>
              </a:rPr>
              <a:t> </a:t>
            </a:r>
            <a:r>
              <a:rPr sz="850" dirty="0">
                <a:latin typeface="Arial MT"/>
                <a:cs typeface="Arial MT"/>
              </a:rPr>
              <a:t>requirements</a:t>
            </a:r>
            <a:r>
              <a:rPr sz="850" spc="40" dirty="0">
                <a:latin typeface="Arial MT"/>
                <a:cs typeface="Arial MT"/>
              </a:rPr>
              <a:t> </a:t>
            </a:r>
            <a:r>
              <a:rPr sz="850" dirty="0">
                <a:latin typeface="Arial MT"/>
                <a:cs typeface="Arial MT"/>
              </a:rPr>
              <a:t>given</a:t>
            </a:r>
            <a:r>
              <a:rPr sz="850" spc="35" dirty="0">
                <a:latin typeface="Arial MT"/>
                <a:cs typeface="Arial MT"/>
              </a:rPr>
              <a:t> </a:t>
            </a:r>
            <a:r>
              <a:rPr sz="850" dirty="0">
                <a:latin typeface="Arial MT"/>
                <a:cs typeface="Arial MT"/>
              </a:rPr>
              <a:t>in</a:t>
            </a:r>
            <a:r>
              <a:rPr sz="850" spc="35" dirty="0">
                <a:latin typeface="Arial MT"/>
                <a:cs typeface="Arial MT"/>
              </a:rPr>
              <a:t> </a:t>
            </a:r>
            <a:r>
              <a:rPr sz="850" dirty="0">
                <a:latin typeface="Arial MT"/>
                <a:cs typeface="Arial MT"/>
              </a:rPr>
              <a:t>the</a:t>
            </a:r>
            <a:r>
              <a:rPr sz="850" spc="35" dirty="0">
                <a:latin typeface="Arial MT"/>
                <a:cs typeface="Arial MT"/>
              </a:rPr>
              <a:t> </a:t>
            </a:r>
            <a:r>
              <a:rPr sz="850" spc="-10" dirty="0">
                <a:latin typeface="Arial MT"/>
                <a:cs typeface="Arial MT"/>
              </a:rPr>
              <a:t>question.</a:t>
            </a:r>
            <a:endParaRPr sz="850">
              <a:latin typeface="Arial MT"/>
              <a:cs typeface="Arial MT"/>
            </a:endParaRPr>
          </a:p>
          <a:p>
            <a:pPr marL="114300">
              <a:lnSpc>
                <a:spcPct val="100000"/>
              </a:lnSpc>
              <a:spcBef>
                <a:spcPts val="490"/>
              </a:spcBef>
            </a:pPr>
            <a:r>
              <a:rPr sz="650" dirty="0">
                <a:latin typeface="Courier New"/>
                <a:cs typeface="Courier New"/>
              </a:rPr>
              <a:t>employee</a:t>
            </a:r>
            <a:r>
              <a:rPr sz="650" spc="110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&lt;-</a:t>
            </a:r>
            <a:r>
              <a:rPr sz="650" spc="110" dirty="0">
                <a:latin typeface="Courier New"/>
                <a:cs typeface="Courier New"/>
              </a:rPr>
              <a:t> </a:t>
            </a:r>
            <a:r>
              <a:rPr sz="650" spc="-10" dirty="0">
                <a:latin typeface="Courier New"/>
                <a:cs typeface="Courier New"/>
              </a:rPr>
              <a:t>data.frame(</a:t>
            </a:r>
            <a:endParaRPr sz="650">
              <a:latin typeface="Courier New"/>
              <a:cs typeface="Courier New"/>
            </a:endParaRPr>
          </a:p>
          <a:p>
            <a:pPr marL="114300">
              <a:lnSpc>
                <a:spcPct val="100000"/>
              </a:lnSpc>
              <a:spcBef>
                <a:spcPts val="40"/>
              </a:spcBef>
            </a:pPr>
            <a:r>
              <a:rPr sz="650" dirty="0">
                <a:latin typeface="Courier New"/>
                <a:cs typeface="Courier New"/>
              </a:rPr>
              <a:t>Employee_ID</a:t>
            </a:r>
            <a:r>
              <a:rPr sz="650" spc="110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=</a:t>
            </a:r>
            <a:r>
              <a:rPr sz="650" spc="110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c(101,</a:t>
            </a:r>
            <a:r>
              <a:rPr sz="650" spc="114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102,</a:t>
            </a:r>
            <a:r>
              <a:rPr sz="650" spc="110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103,</a:t>
            </a:r>
            <a:r>
              <a:rPr sz="650" spc="110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104,</a:t>
            </a:r>
            <a:r>
              <a:rPr sz="650" spc="114" dirty="0">
                <a:latin typeface="Courier New"/>
                <a:cs typeface="Courier New"/>
              </a:rPr>
              <a:t> </a:t>
            </a:r>
            <a:r>
              <a:rPr sz="650" spc="-10" dirty="0">
                <a:latin typeface="Courier New"/>
                <a:cs typeface="Courier New"/>
              </a:rPr>
              <a:t>105),</a:t>
            </a:r>
            <a:endParaRPr sz="650">
              <a:latin typeface="Courier New"/>
              <a:cs typeface="Courier New"/>
            </a:endParaRPr>
          </a:p>
          <a:p>
            <a:pPr marL="114300" marR="776605">
              <a:lnSpc>
                <a:spcPct val="105100"/>
              </a:lnSpc>
            </a:pPr>
            <a:r>
              <a:rPr sz="650" dirty="0">
                <a:latin typeface="Courier New"/>
                <a:cs typeface="Courier New"/>
              </a:rPr>
              <a:t>Name</a:t>
            </a:r>
            <a:r>
              <a:rPr sz="650" spc="135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=</a:t>
            </a:r>
            <a:r>
              <a:rPr sz="650" spc="140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c("Arun",</a:t>
            </a:r>
            <a:r>
              <a:rPr sz="650" spc="135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"Bala",</a:t>
            </a:r>
            <a:r>
              <a:rPr sz="650" spc="140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"Charan",</a:t>
            </a:r>
            <a:r>
              <a:rPr sz="650" spc="135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"Divya",</a:t>
            </a:r>
            <a:r>
              <a:rPr sz="650" spc="140" dirty="0">
                <a:latin typeface="Courier New"/>
                <a:cs typeface="Courier New"/>
              </a:rPr>
              <a:t> </a:t>
            </a:r>
            <a:r>
              <a:rPr sz="650" spc="-10" dirty="0">
                <a:latin typeface="Courier New"/>
                <a:cs typeface="Courier New"/>
              </a:rPr>
              <a:t>"Esha"), </a:t>
            </a:r>
            <a:r>
              <a:rPr sz="650" dirty="0">
                <a:latin typeface="Courier New"/>
                <a:cs typeface="Courier New"/>
              </a:rPr>
              <a:t>Basic_Pay</a:t>
            </a:r>
            <a:r>
              <a:rPr sz="650" spc="130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=</a:t>
            </a:r>
            <a:r>
              <a:rPr sz="650" spc="130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c(42000,</a:t>
            </a:r>
            <a:r>
              <a:rPr sz="650" spc="130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48000,</a:t>
            </a:r>
            <a:r>
              <a:rPr sz="650" spc="135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55000,</a:t>
            </a:r>
            <a:r>
              <a:rPr sz="650" spc="130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39000,</a:t>
            </a:r>
            <a:r>
              <a:rPr sz="650" spc="130" dirty="0">
                <a:latin typeface="Courier New"/>
                <a:cs typeface="Courier New"/>
              </a:rPr>
              <a:t> </a:t>
            </a:r>
            <a:r>
              <a:rPr sz="650" spc="-10" dirty="0">
                <a:latin typeface="Courier New"/>
                <a:cs typeface="Courier New"/>
              </a:rPr>
              <a:t>60000),</a:t>
            </a:r>
            <a:endParaRPr sz="650">
              <a:latin typeface="Courier New"/>
              <a:cs typeface="Courier New"/>
            </a:endParaRPr>
          </a:p>
          <a:p>
            <a:pPr marL="114300">
              <a:lnSpc>
                <a:spcPct val="100000"/>
              </a:lnSpc>
              <a:spcBef>
                <a:spcPts val="40"/>
              </a:spcBef>
            </a:pPr>
            <a:r>
              <a:rPr sz="650" dirty="0">
                <a:latin typeface="Courier New"/>
                <a:cs typeface="Courier New"/>
              </a:rPr>
              <a:t>Allowance</a:t>
            </a:r>
            <a:r>
              <a:rPr sz="650" spc="114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=</a:t>
            </a:r>
            <a:r>
              <a:rPr sz="650" spc="120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c(6000,</a:t>
            </a:r>
            <a:r>
              <a:rPr sz="650" spc="120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7000,</a:t>
            </a:r>
            <a:r>
              <a:rPr sz="650" spc="114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8000,</a:t>
            </a:r>
            <a:r>
              <a:rPr sz="650" spc="120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5000,</a:t>
            </a:r>
            <a:r>
              <a:rPr sz="650" spc="120" dirty="0">
                <a:latin typeface="Courier New"/>
                <a:cs typeface="Courier New"/>
              </a:rPr>
              <a:t> </a:t>
            </a:r>
            <a:r>
              <a:rPr sz="650" spc="-10" dirty="0">
                <a:latin typeface="Courier New"/>
                <a:cs typeface="Courier New"/>
              </a:rPr>
              <a:t>10000)</a:t>
            </a:r>
            <a:endParaRPr sz="650">
              <a:latin typeface="Courier New"/>
              <a:cs typeface="Courier New"/>
            </a:endParaRPr>
          </a:p>
          <a:p>
            <a:pPr marL="114300">
              <a:lnSpc>
                <a:spcPct val="100000"/>
              </a:lnSpc>
              <a:spcBef>
                <a:spcPts val="40"/>
              </a:spcBef>
            </a:pPr>
            <a:r>
              <a:rPr sz="650" spc="-50" dirty="0">
                <a:latin typeface="Courier New"/>
                <a:cs typeface="Courier New"/>
              </a:rPr>
              <a:t>)</a:t>
            </a:r>
            <a:endParaRPr sz="650">
              <a:latin typeface="Courier New"/>
              <a:cs typeface="Courier New"/>
            </a:endParaRPr>
          </a:p>
          <a:p>
            <a:pPr marL="114300" marR="154305">
              <a:lnSpc>
                <a:spcPct val="210300"/>
              </a:lnSpc>
            </a:pPr>
            <a:r>
              <a:rPr sz="650" spc="10" dirty="0">
                <a:latin typeface="Courier New"/>
                <a:cs typeface="Courier New"/>
              </a:rPr>
              <a:t>employee$Gross_Salary</a:t>
            </a:r>
            <a:r>
              <a:rPr sz="650" spc="110" dirty="0">
                <a:latin typeface="Courier New"/>
                <a:cs typeface="Courier New"/>
              </a:rPr>
              <a:t> </a:t>
            </a:r>
            <a:r>
              <a:rPr sz="650" spc="10" dirty="0">
                <a:latin typeface="Courier New"/>
                <a:cs typeface="Courier New"/>
              </a:rPr>
              <a:t>&lt;-</a:t>
            </a:r>
            <a:r>
              <a:rPr sz="650" spc="114" dirty="0">
                <a:latin typeface="Courier New"/>
                <a:cs typeface="Courier New"/>
              </a:rPr>
              <a:t> </a:t>
            </a:r>
            <a:r>
              <a:rPr sz="650" spc="10" dirty="0">
                <a:latin typeface="Courier New"/>
                <a:cs typeface="Courier New"/>
              </a:rPr>
              <a:t>employee$Basic_Pay</a:t>
            </a:r>
            <a:r>
              <a:rPr sz="650" spc="114" dirty="0">
                <a:latin typeface="Courier New"/>
                <a:cs typeface="Courier New"/>
              </a:rPr>
              <a:t> </a:t>
            </a:r>
            <a:r>
              <a:rPr sz="650" spc="10" dirty="0">
                <a:latin typeface="Courier New"/>
                <a:cs typeface="Courier New"/>
              </a:rPr>
              <a:t>+</a:t>
            </a:r>
            <a:r>
              <a:rPr sz="650" spc="110" dirty="0">
                <a:latin typeface="Courier New"/>
                <a:cs typeface="Courier New"/>
              </a:rPr>
              <a:t> </a:t>
            </a:r>
            <a:r>
              <a:rPr sz="650" spc="-10" dirty="0">
                <a:latin typeface="Courier New"/>
                <a:cs typeface="Courier New"/>
              </a:rPr>
              <a:t>employee$Allowance </a:t>
            </a:r>
            <a:r>
              <a:rPr sz="650" dirty="0">
                <a:latin typeface="Courier New"/>
                <a:cs typeface="Courier New"/>
              </a:rPr>
              <a:t>cat("Employee</a:t>
            </a:r>
            <a:r>
              <a:rPr sz="650" spc="155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details</a:t>
            </a:r>
            <a:r>
              <a:rPr sz="650" spc="155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with</a:t>
            </a:r>
            <a:r>
              <a:rPr sz="650" spc="155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Gross</a:t>
            </a:r>
            <a:r>
              <a:rPr sz="650" spc="155" dirty="0">
                <a:latin typeface="Courier New"/>
                <a:cs typeface="Courier New"/>
              </a:rPr>
              <a:t> </a:t>
            </a:r>
            <a:r>
              <a:rPr sz="650" spc="-10" dirty="0">
                <a:latin typeface="Courier New"/>
                <a:cs typeface="Courier New"/>
              </a:rPr>
              <a:t>Salary:\n")</a:t>
            </a:r>
            <a:endParaRPr sz="650">
              <a:latin typeface="Courier New"/>
              <a:cs typeface="Courier New"/>
            </a:endParaRPr>
          </a:p>
          <a:p>
            <a:pPr marL="114300">
              <a:lnSpc>
                <a:spcPct val="100000"/>
              </a:lnSpc>
              <a:spcBef>
                <a:spcPts val="40"/>
              </a:spcBef>
            </a:pPr>
            <a:r>
              <a:rPr sz="650" spc="-10" dirty="0">
                <a:latin typeface="Courier New"/>
                <a:cs typeface="Courier New"/>
              </a:rPr>
              <a:t>print(employee)</a:t>
            </a:r>
            <a:endParaRPr sz="6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650">
              <a:latin typeface="Courier New"/>
              <a:cs typeface="Courier New"/>
            </a:endParaRPr>
          </a:p>
          <a:p>
            <a:pPr marL="114300" marR="568960">
              <a:lnSpc>
                <a:spcPct val="105100"/>
              </a:lnSpc>
            </a:pPr>
            <a:r>
              <a:rPr sz="650" spc="10" dirty="0">
                <a:latin typeface="Courier New"/>
                <a:cs typeface="Courier New"/>
              </a:rPr>
              <a:t>above_50000</a:t>
            </a:r>
            <a:r>
              <a:rPr sz="650" spc="105" dirty="0">
                <a:latin typeface="Courier New"/>
                <a:cs typeface="Courier New"/>
              </a:rPr>
              <a:t> </a:t>
            </a:r>
            <a:r>
              <a:rPr sz="650" spc="10" dirty="0">
                <a:latin typeface="Courier New"/>
                <a:cs typeface="Courier New"/>
              </a:rPr>
              <a:t>&lt;-</a:t>
            </a:r>
            <a:r>
              <a:rPr sz="650" spc="110" dirty="0">
                <a:latin typeface="Courier New"/>
                <a:cs typeface="Courier New"/>
              </a:rPr>
              <a:t> </a:t>
            </a:r>
            <a:r>
              <a:rPr sz="650" spc="10" dirty="0">
                <a:latin typeface="Courier New"/>
                <a:cs typeface="Courier New"/>
              </a:rPr>
              <a:t>employee[employee$Gross_Salary</a:t>
            </a:r>
            <a:r>
              <a:rPr sz="650" spc="110" dirty="0">
                <a:latin typeface="Courier New"/>
                <a:cs typeface="Courier New"/>
              </a:rPr>
              <a:t> </a:t>
            </a:r>
            <a:r>
              <a:rPr sz="650" spc="10" dirty="0">
                <a:latin typeface="Courier New"/>
                <a:cs typeface="Courier New"/>
              </a:rPr>
              <a:t>&gt;</a:t>
            </a:r>
            <a:r>
              <a:rPr sz="650" spc="110" dirty="0">
                <a:latin typeface="Courier New"/>
                <a:cs typeface="Courier New"/>
              </a:rPr>
              <a:t> </a:t>
            </a:r>
            <a:r>
              <a:rPr sz="650" spc="10" dirty="0">
                <a:latin typeface="Courier New"/>
                <a:cs typeface="Courier New"/>
              </a:rPr>
              <a:t>50000,</a:t>
            </a:r>
            <a:r>
              <a:rPr sz="650" spc="105" dirty="0">
                <a:latin typeface="Courier New"/>
                <a:cs typeface="Courier New"/>
              </a:rPr>
              <a:t> </a:t>
            </a:r>
            <a:r>
              <a:rPr sz="650" spc="-50" dirty="0">
                <a:latin typeface="Courier New"/>
                <a:cs typeface="Courier New"/>
              </a:rPr>
              <a:t>] </a:t>
            </a:r>
            <a:r>
              <a:rPr sz="650" dirty="0">
                <a:latin typeface="Courier New"/>
                <a:cs typeface="Courier New"/>
              </a:rPr>
              <a:t>cat("Employees</a:t>
            </a:r>
            <a:r>
              <a:rPr sz="650" spc="180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earning</a:t>
            </a:r>
            <a:r>
              <a:rPr sz="650" spc="185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above</a:t>
            </a:r>
            <a:r>
              <a:rPr sz="650" spc="180" dirty="0">
                <a:latin typeface="Courier New"/>
                <a:cs typeface="Courier New"/>
              </a:rPr>
              <a:t> </a:t>
            </a:r>
            <a:r>
              <a:rPr sz="650" spc="-10" dirty="0">
                <a:latin typeface="Courier New"/>
                <a:cs typeface="Courier New"/>
              </a:rPr>
              <a:t>Rs.50,000:\n") print(above_50000)</a:t>
            </a:r>
            <a:endParaRPr sz="6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650">
              <a:latin typeface="Courier New"/>
              <a:cs typeface="Courier New"/>
            </a:endParaRPr>
          </a:p>
          <a:p>
            <a:pPr marL="114300" marR="154305">
              <a:lnSpc>
                <a:spcPct val="105100"/>
              </a:lnSpc>
            </a:pPr>
            <a:r>
              <a:rPr sz="650" spc="10" dirty="0">
                <a:latin typeface="Courier New"/>
                <a:cs typeface="Courier New"/>
              </a:rPr>
              <a:t>highest_employee</a:t>
            </a:r>
            <a:r>
              <a:rPr sz="650" spc="200" dirty="0">
                <a:latin typeface="Courier New"/>
                <a:cs typeface="Courier New"/>
              </a:rPr>
              <a:t> </a:t>
            </a:r>
            <a:r>
              <a:rPr sz="650" spc="10" dirty="0">
                <a:latin typeface="Courier New"/>
                <a:cs typeface="Courier New"/>
              </a:rPr>
              <a:t>&lt;-</a:t>
            </a:r>
            <a:r>
              <a:rPr sz="650" spc="204" dirty="0">
                <a:latin typeface="Courier New"/>
                <a:cs typeface="Courier New"/>
              </a:rPr>
              <a:t> </a:t>
            </a:r>
            <a:r>
              <a:rPr sz="650" spc="10" dirty="0">
                <a:latin typeface="Courier New"/>
                <a:cs typeface="Courier New"/>
              </a:rPr>
              <a:t>employee[which.max(employee$Gross_Salary),</a:t>
            </a:r>
            <a:r>
              <a:rPr sz="650" spc="200" dirty="0">
                <a:latin typeface="Courier New"/>
                <a:cs typeface="Courier New"/>
              </a:rPr>
              <a:t> </a:t>
            </a:r>
            <a:r>
              <a:rPr sz="650" spc="-50" dirty="0">
                <a:latin typeface="Courier New"/>
                <a:cs typeface="Courier New"/>
              </a:rPr>
              <a:t>] </a:t>
            </a:r>
            <a:r>
              <a:rPr sz="650" dirty="0">
                <a:latin typeface="Courier New"/>
                <a:cs typeface="Courier New"/>
              </a:rPr>
              <a:t>cat("Employee</a:t>
            </a:r>
            <a:r>
              <a:rPr sz="650" spc="170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with</a:t>
            </a:r>
            <a:r>
              <a:rPr sz="650" spc="170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highest</a:t>
            </a:r>
            <a:r>
              <a:rPr sz="650" spc="170" dirty="0">
                <a:latin typeface="Courier New"/>
                <a:cs typeface="Courier New"/>
              </a:rPr>
              <a:t> </a:t>
            </a:r>
            <a:r>
              <a:rPr sz="650" spc="-10" dirty="0">
                <a:latin typeface="Courier New"/>
                <a:cs typeface="Courier New"/>
              </a:rPr>
              <a:t>salary:\n")</a:t>
            </a:r>
            <a:endParaRPr sz="650">
              <a:latin typeface="Courier New"/>
              <a:cs typeface="Courier New"/>
            </a:endParaRPr>
          </a:p>
          <a:p>
            <a:pPr marL="114300">
              <a:lnSpc>
                <a:spcPct val="100000"/>
              </a:lnSpc>
              <a:spcBef>
                <a:spcPts val="40"/>
              </a:spcBef>
            </a:pPr>
            <a:r>
              <a:rPr sz="650" spc="-10" dirty="0">
                <a:latin typeface="Courier New"/>
                <a:cs typeface="Courier New"/>
              </a:rPr>
              <a:t>print(highest_employee)</a:t>
            </a:r>
            <a:endParaRPr sz="6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650">
              <a:latin typeface="Courier New"/>
              <a:cs typeface="Courier New"/>
            </a:endParaRPr>
          </a:p>
          <a:p>
            <a:pPr marL="114300">
              <a:lnSpc>
                <a:spcPct val="100000"/>
              </a:lnSpc>
            </a:pPr>
            <a:r>
              <a:rPr sz="650" dirty="0">
                <a:latin typeface="Courier New"/>
                <a:cs typeface="Courier New"/>
              </a:rPr>
              <a:t>cat("Summary</a:t>
            </a:r>
            <a:r>
              <a:rPr sz="650" spc="245" dirty="0">
                <a:latin typeface="Courier New"/>
                <a:cs typeface="Courier New"/>
              </a:rPr>
              <a:t> </a:t>
            </a:r>
            <a:r>
              <a:rPr sz="650" spc="-10" dirty="0">
                <a:latin typeface="Courier New"/>
                <a:cs typeface="Courier New"/>
              </a:rPr>
              <a:t>Report:\n")</a:t>
            </a:r>
            <a:endParaRPr sz="650">
              <a:latin typeface="Courier New"/>
              <a:cs typeface="Courier New"/>
            </a:endParaRPr>
          </a:p>
          <a:p>
            <a:pPr marL="114300">
              <a:lnSpc>
                <a:spcPct val="100000"/>
              </a:lnSpc>
              <a:spcBef>
                <a:spcPts val="40"/>
              </a:spcBef>
            </a:pPr>
            <a:r>
              <a:rPr sz="650" dirty="0">
                <a:latin typeface="Courier New"/>
                <a:cs typeface="Courier New"/>
              </a:rPr>
              <a:t>cat("Number</a:t>
            </a:r>
            <a:r>
              <a:rPr sz="650" spc="204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of</a:t>
            </a:r>
            <a:r>
              <a:rPr sz="650" spc="210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employees:",</a:t>
            </a:r>
            <a:r>
              <a:rPr sz="650" spc="210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nrow(employee),</a:t>
            </a:r>
            <a:r>
              <a:rPr sz="650" spc="210" dirty="0">
                <a:latin typeface="Courier New"/>
                <a:cs typeface="Courier New"/>
              </a:rPr>
              <a:t> </a:t>
            </a:r>
            <a:r>
              <a:rPr sz="650" spc="-10" dirty="0">
                <a:latin typeface="Courier New"/>
                <a:cs typeface="Courier New"/>
              </a:rPr>
              <a:t>"\n")</a:t>
            </a:r>
            <a:endParaRPr sz="650">
              <a:latin typeface="Courier New"/>
              <a:cs typeface="Courier New"/>
            </a:endParaRPr>
          </a:p>
          <a:p>
            <a:pPr marL="114300" marR="206375">
              <a:lnSpc>
                <a:spcPct val="105100"/>
              </a:lnSpc>
              <a:spcBef>
                <a:spcPts val="5"/>
              </a:spcBef>
            </a:pPr>
            <a:r>
              <a:rPr sz="650" spc="10" dirty="0">
                <a:latin typeface="Courier New"/>
                <a:cs typeface="Courier New"/>
              </a:rPr>
              <a:t>cat("Average</a:t>
            </a:r>
            <a:r>
              <a:rPr sz="650" spc="140" dirty="0">
                <a:latin typeface="Courier New"/>
                <a:cs typeface="Courier New"/>
              </a:rPr>
              <a:t> </a:t>
            </a:r>
            <a:r>
              <a:rPr sz="650" spc="10" dirty="0">
                <a:latin typeface="Courier New"/>
                <a:cs typeface="Courier New"/>
              </a:rPr>
              <a:t>gross</a:t>
            </a:r>
            <a:r>
              <a:rPr sz="650" spc="140" dirty="0">
                <a:latin typeface="Courier New"/>
                <a:cs typeface="Courier New"/>
              </a:rPr>
              <a:t> </a:t>
            </a:r>
            <a:r>
              <a:rPr sz="650" spc="10" dirty="0">
                <a:latin typeface="Courier New"/>
                <a:cs typeface="Courier New"/>
              </a:rPr>
              <a:t>salary:",</a:t>
            </a:r>
            <a:r>
              <a:rPr sz="650" spc="140" dirty="0">
                <a:latin typeface="Courier New"/>
                <a:cs typeface="Courier New"/>
              </a:rPr>
              <a:t> </a:t>
            </a:r>
            <a:r>
              <a:rPr sz="650" spc="10" dirty="0">
                <a:latin typeface="Courier New"/>
                <a:cs typeface="Courier New"/>
              </a:rPr>
              <a:t>mean(employee$Gross_Salary),</a:t>
            </a:r>
            <a:r>
              <a:rPr sz="650" spc="145" dirty="0">
                <a:latin typeface="Courier New"/>
                <a:cs typeface="Courier New"/>
              </a:rPr>
              <a:t> </a:t>
            </a:r>
            <a:r>
              <a:rPr sz="650" spc="-10" dirty="0">
                <a:latin typeface="Courier New"/>
                <a:cs typeface="Courier New"/>
              </a:rPr>
              <a:t>"\n") </a:t>
            </a:r>
            <a:r>
              <a:rPr sz="650" spc="10" dirty="0">
                <a:latin typeface="Courier New"/>
                <a:cs typeface="Courier New"/>
              </a:rPr>
              <a:t>cat("Highest</a:t>
            </a:r>
            <a:r>
              <a:rPr sz="650" spc="135" dirty="0">
                <a:latin typeface="Courier New"/>
                <a:cs typeface="Courier New"/>
              </a:rPr>
              <a:t> </a:t>
            </a:r>
            <a:r>
              <a:rPr sz="650" spc="10" dirty="0">
                <a:latin typeface="Courier New"/>
                <a:cs typeface="Courier New"/>
              </a:rPr>
              <a:t>gross</a:t>
            </a:r>
            <a:r>
              <a:rPr sz="650" spc="140" dirty="0">
                <a:latin typeface="Courier New"/>
                <a:cs typeface="Courier New"/>
              </a:rPr>
              <a:t> </a:t>
            </a:r>
            <a:r>
              <a:rPr sz="650" spc="10" dirty="0">
                <a:latin typeface="Courier New"/>
                <a:cs typeface="Courier New"/>
              </a:rPr>
              <a:t>salary:",</a:t>
            </a:r>
            <a:r>
              <a:rPr sz="650" spc="140" dirty="0">
                <a:latin typeface="Courier New"/>
                <a:cs typeface="Courier New"/>
              </a:rPr>
              <a:t> </a:t>
            </a:r>
            <a:r>
              <a:rPr sz="650" spc="10" dirty="0">
                <a:latin typeface="Courier New"/>
                <a:cs typeface="Courier New"/>
              </a:rPr>
              <a:t>max(employee$Gross_Salary),</a:t>
            </a:r>
            <a:r>
              <a:rPr sz="650" spc="140" dirty="0">
                <a:latin typeface="Courier New"/>
                <a:cs typeface="Courier New"/>
              </a:rPr>
              <a:t> </a:t>
            </a:r>
            <a:r>
              <a:rPr sz="650" spc="-10" dirty="0">
                <a:latin typeface="Courier New"/>
                <a:cs typeface="Courier New"/>
              </a:rPr>
              <a:t>"\n") </a:t>
            </a:r>
            <a:r>
              <a:rPr sz="650" spc="10" dirty="0">
                <a:latin typeface="Courier New"/>
                <a:cs typeface="Courier New"/>
              </a:rPr>
              <a:t>cat("Lowest</a:t>
            </a:r>
            <a:r>
              <a:rPr sz="650" spc="135" dirty="0">
                <a:latin typeface="Courier New"/>
                <a:cs typeface="Courier New"/>
              </a:rPr>
              <a:t> </a:t>
            </a:r>
            <a:r>
              <a:rPr sz="650" spc="10" dirty="0">
                <a:latin typeface="Courier New"/>
                <a:cs typeface="Courier New"/>
              </a:rPr>
              <a:t>gross</a:t>
            </a:r>
            <a:r>
              <a:rPr sz="650" spc="135" dirty="0">
                <a:latin typeface="Courier New"/>
                <a:cs typeface="Courier New"/>
              </a:rPr>
              <a:t> </a:t>
            </a:r>
            <a:r>
              <a:rPr sz="650" spc="10" dirty="0">
                <a:latin typeface="Courier New"/>
                <a:cs typeface="Courier New"/>
              </a:rPr>
              <a:t>salary:",</a:t>
            </a:r>
            <a:r>
              <a:rPr sz="650" spc="140" dirty="0">
                <a:latin typeface="Courier New"/>
                <a:cs typeface="Courier New"/>
              </a:rPr>
              <a:t> </a:t>
            </a:r>
            <a:r>
              <a:rPr sz="650" spc="10" dirty="0">
                <a:latin typeface="Courier New"/>
                <a:cs typeface="Courier New"/>
              </a:rPr>
              <a:t>min(employee$Gross_Salary),</a:t>
            </a:r>
            <a:r>
              <a:rPr sz="650" spc="135" dirty="0">
                <a:latin typeface="Courier New"/>
                <a:cs typeface="Courier New"/>
              </a:rPr>
              <a:t> </a:t>
            </a:r>
            <a:r>
              <a:rPr sz="650" spc="-10" dirty="0">
                <a:latin typeface="Courier New"/>
                <a:cs typeface="Courier New"/>
              </a:rPr>
              <a:t>"\n")</a:t>
            </a:r>
            <a:endParaRPr sz="650">
              <a:latin typeface="Courier New"/>
              <a:cs typeface="Courier New"/>
            </a:endParaRPr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67500" y="495499"/>
            <a:ext cx="3599815" cy="703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7005" indent="-154305">
              <a:lnSpc>
                <a:spcPct val="100000"/>
              </a:lnSpc>
              <a:spcBef>
                <a:spcPts val="100"/>
              </a:spcBef>
              <a:buAutoNum type="arabicPeriod" startAt="3"/>
              <a:tabLst>
                <a:tab pos="167005" algn="l"/>
              </a:tabLst>
            </a:pPr>
            <a:r>
              <a:rPr sz="1100" b="1" dirty="0">
                <a:latin typeface="Arial"/>
                <a:cs typeface="Arial"/>
              </a:rPr>
              <a:t>Weather</a:t>
            </a:r>
            <a:r>
              <a:rPr sz="1100" b="1" spc="-1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Data</a:t>
            </a:r>
            <a:r>
              <a:rPr sz="1100" b="1" spc="-1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Analysis</a:t>
            </a:r>
            <a:r>
              <a:rPr sz="1100" b="1" spc="-1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Using</a:t>
            </a:r>
            <a:r>
              <a:rPr sz="1100" b="1" spc="-10" dirty="0">
                <a:latin typeface="Arial"/>
                <a:cs typeface="Arial"/>
              </a:rPr>
              <a:t> Arrays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850" dirty="0">
                <a:latin typeface="Arial MT"/>
                <a:cs typeface="Arial MT"/>
              </a:rPr>
              <a:t>The</a:t>
            </a:r>
            <a:r>
              <a:rPr sz="850" spc="35" dirty="0">
                <a:latin typeface="Arial MT"/>
                <a:cs typeface="Arial MT"/>
              </a:rPr>
              <a:t> </a:t>
            </a:r>
            <a:r>
              <a:rPr sz="850" dirty="0">
                <a:latin typeface="Arial MT"/>
                <a:cs typeface="Arial MT"/>
              </a:rPr>
              <a:t>following</a:t>
            </a:r>
            <a:r>
              <a:rPr sz="850" spc="35" dirty="0">
                <a:latin typeface="Arial MT"/>
                <a:cs typeface="Arial MT"/>
              </a:rPr>
              <a:t> </a:t>
            </a:r>
            <a:r>
              <a:rPr sz="850" dirty="0">
                <a:latin typeface="Arial MT"/>
                <a:cs typeface="Arial MT"/>
              </a:rPr>
              <a:t>R</a:t>
            </a:r>
            <a:r>
              <a:rPr sz="850" spc="35" dirty="0">
                <a:latin typeface="Arial MT"/>
                <a:cs typeface="Arial MT"/>
              </a:rPr>
              <a:t> </a:t>
            </a:r>
            <a:r>
              <a:rPr sz="850" dirty="0">
                <a:latin typeface="Arial MT"/>
                <a:cs typeface="Arial MT"/>
              </a:rPr>
              <a:t>program</a:t>
            </a:r>
            <a:r>
              <a:rPr sz="850" spc="40" dirty="0">
                <a:latin typeface="Arial MT"/>
                <a:cs typeface="Arial MT"/>
              </a:rPr>
              <a:t> </a:t>
            </a:r>
            <a:r>
              <a:rPr sz="850" dirty="0">
                <a:latin typeface="Arial MT"/>
                <a:cs typeface="Arial MT"/>
              </a:rPr>
              <a:t>satisfies</a:t>
            </a:r>
            <a:r>
              <a:rPr sz="850" spc="35" dirty="0">
                <a:latin typeface="Arial MT"/>
                <a:cs typeface="Arial MT"/>
              </a:rPr>
              <a:t> </a:t>
            </a:r>
            <a:r>
              <a:rPr sz="850" dirty="0">
                <a:latin typeface="Arial MT"/>
                <a:cs typeface="Arial MT"/>
              </a:rPr>
              <a:t>the</a:t>
            </a:r>
            <a:r>
              <a:rPr sz="850" spc="35" dirty="0">
                <a:latin typeface="Arial MT"/>
                <a:cs typeface="Arial MT"/>
              </a:rPr>
              <a:t> </a:t>
            </a:r>
            <a:r>
              <a:rPr sz="850" dirty="0">
                <a:latin typeface="Arial MT"/>
                <a:cs typeface="Arial MT"/>
              </a:rPr>
              <a:t>requirements</a:t>
            </a:r>
            <a:r>
              <a:rPr sz="850" spc="40" dirty="0">
                <a:latin typeface="Arial MT"/>
                <a:cs typeface="Arial MT"/>
              </a:rPr>
              <a:t> </a:t>
            </a:r>
            <a:r>
              <a:rPr sz="850" dirty="0">
                <a:latin typeface="Arial MT"/>
                <a:cs typeface="Arial MT"/>
              </a:rPr>
              <a:t>given</a:t>
            </a:r>
            <a:r>
              <a:rPr sz="850" spc="35" dirty="0">
                <a:latin typeface="Arial MT"/>
                <a:cs typeface="Arial MT"/>
              </a:rPr>
              <a:t> </a:t>
            </a:r>
            <a:r>
              <a:rPr sz="850" dirty="0">
                <a:latin typeface="Arial MT"/>
                <a:cs typeface="Arial MT"/>
              </a:rPr>
              <a:t>in</a:t>
            </a:r>
            <a:r>
              <a:rPr sz="850" spc="35" dirty="0">
                <a:latin typeface="Arial MT"/>
                <a:cs typeface="Arial MT"/>
              </a:rPr>
              <a:t> </a:t>
            </a:r>
            <a:r>
              <a:rPr sz="850" dirty="0">
                <a:latin typeface="Arial MT"/>
                <a:cs typeface="Arial MT"/>
              </a:rPr>
              <a:t>the</a:t>
            </a:r>
            <a:r>
              <a:rPr sz="850" spc="35" dirty="0">
                <a:latin typeface="Arial MT"/>
                <a:cs typeface="Arial MT"/>
              </a:rPr>
              <a:t> </a:t>
            </a:r>
            <a:r>
              <a:rPr sz="850" spc="-10" dirty="0">
                <a:latin typeface="Arial MT"/>
                <a:cs typeface="Arial MT"/>
              </a:rPr>
              <a:t>question.</a:t>
            </a:r>
            <a:endParaRPr sz="850">
              <a:latin typeface="Arial MT"/>
              <a:cs typeface="Arial MT"/>
            </a:endParaRPr>
          </a:p>
          <a:p>
            <a:pPr marL="114300">
              <a:lnSpc>
                <a:spcPct val="100000"/>
              </a:lnSpc>
              <a:spcBef>
                <a:spcPts val="490"/>
              </a:spcBef>
            </a:pPr>
            <a:r>
              <a:rPr sz="650" dirty="0">
                <a:latin typeface="Courier New"/>
                <a:cs typeface="Courier New"/>
              </a:rPr>
              <a:t>temperature</a:t>
            </a:r>
            <a:r>
              <a:rPr sz="650" spc="140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&lt;-</a:t>
            </a:r>
            <a:r>
              <a:rPr sz="650" spc="140" dirty="0">
                <a:latin typeface="Courier New"/>
                <a:cs typeface="Courier New"/>
              </a:rPr>
              <a:t> </a:t>
            </a:r>
            <a:r>
              <a:rPr sz="650" spc="-10" dirty="0">
                <a:latin typeface="Courier New"/>
                <a:cs typeface="Courier New"/>
              </a:rPr>
              <a:t>array(c(</a:t>
            </a:r>
            <a:endParaRPr sz="650">
              <a:latin typeface="Courier New"/>
              <a:cs typeface="Courier New"/>
            </a:endParaRPr>
          </a:p>
          <a:p>
            <a:pPr marL="114300">
              <a:lnSpc>
                <a:spcPct val="100000"/>
              </a:lnSpc>
              <a:spcBef>
                <a:spcPts val="40"/>
              </a:spcBef>
            </a:pPr>
            <a:r>
              <a:rPr sz="650" dirty="0">
                <a:latin typeface="Courier New"/>
                <a:cs typeface="Courier New"/>
              </a:rPr>
              <a:t>30,</a:t>
            </a:r>
            <a:r>
              <a:rPr sz="650" spc="70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31,</a:t>
            </a:r>
            <a:r>
              <a:rPr sz="650" spc="75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29,</a:t>
            </a:r>
            <a:r>
              <a:rPr sz="650" spc="70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32,</a:t>
            </a:r>
            <a:r>
              <a:rPr sz="650" spc="75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33,</a:t>
            </a:r>
            <a:r>
              <a:rPr sz="650" spc="75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31,</a:t>
            </a:r>
            <a:r>
              <a:rPr sz="650" spc="70" dirty="0">
                <a:latin typeface="Courier New"/>
                <a:cs typeface="Courier New"/>
              </a:rPr>
              <a:t> </a:t>
            </a:r>
            <a:r>
              <a:rPr sz="650" spc="-25" dirty="0">
                <a:latin typeface="Courier New"/>
                <a:cs typeface="Courier New"/>
              </a:rPr>
              <a:t>34,</a:t>
            </a:r>
            <a:endParaRPr sz="650">
              <a:latin typeface="Courier New"/>
              <a:cs typeface="Courier New"/>
            </a:endParaRPr>
          </a:p>
          <a:p>
            <a:pPr marL="114300">
              <a:lnSpc>
                <a:spcPct val="100000"/>
              </a:lnSpc>
              <a:spcBef>
                <a:spcPts val="40"/>
              </a:spcBef>
            </a:pPr>
            <a:r>
              <a:rPr sz="650" dirty="0">
                <a:latin typeface="Courier New"/>
                <a:cs typeface="Courier New"/>
              </a:rPr>
              <a:t>28,</a:t>
            </a:r>
            <a:r>
              <a:rPr sz="650" spc="70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29,</a:t>
            </a:r>
            <a:r>
              <a:rPr sz="650" spc="75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30,</a:t>
            </a:r>
            <a:r>
              <a:rPr sz="650" spc="70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31,</a:t>
            </a:r>
            <a:r>
              <a:rPr sz="650" spc="75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32,</a:t>
            </a:r>
            <a:r>
              <a:rPr sz="650" spc="75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30,</a:t>
            </a:r>
            <a:r>
              <a:rPr sz="650" spc="70" dirty="0">
                <a:latin typeface="Courier New"/>
                <a:cs typeface="Courier New"/>
              </a:rPr>
              <a:t> </a:t>
            </a:r>
            <a:r>
              <a:rPr sz="650" spc="-25" dirty="0">
                <a:latin typeface="Courier New"/>
                <a:cs typeface="Courier New"/>
              </a:rPr>
              <a:t>33,</a:t>
            </a:r>
            <a:endParaRPr sz="650">
              <a:latin typeface="Courier New"/>
              <a:cs typeface="Courier New"/>
            </a:endParaRPr>
          </a:p>
          <a:p>
            <a:pPr marL="114300">
              <a:lnSpc>
                <a:spcPct val="100000"/>
              </a:lnSpc>
              <a:spcBef>
                <a:spcPts val="40"/>
              </a:spcBef>
            </a:pPr>
            <a:r>
              <a:rPr sz="650" dirty="0">
                <a:latin typeface="Courier New"/>
                <a:cs typeface="Courier New"/>
              </a:rPr>
              <a:t>35,</a:t>
            </a:r>
            <a:r>
              <a:rPr sz="650" spc="70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34,</a:t>
            </a:r>
            <a:r>
              <a:rPr sz="650" spc="75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36,</a:t>
            </a:r>
            <a:r>
              <a:rPr sz="650" spc="70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37,</a:t>
            </a:r>
            <a:r>
              <a:rPr sz="650" spc="75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38,</a:t>
            </a:r>
            <a:r>
              <a:rPr sz="650" spc="75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36,</a:t>
            </a:r>
            <a:r>
              <a:rPr sz="650" spc="70" dirty="0">
                <a:latin typeface="Courier New"/>
                <a:cs typeface="Courier New"/>
              </a:rPr>
              <a:t> </a:t>
            </a:r>
            <a:r>
              <a:rPr sz="650" spc="-25" dirty="0">
                <a:latin typeface="Courier New"/>
                <a:cs typeface="Courier New"/>
              </a:rPr>
              <a:t>39</a:t>
            </a:r>
            <a:endParaRPr sz="650">
              <a:latin typeface="Courier New"/>
              <a:cs typeface="Courier New"/>
            </a:endParaRPr>
          </a:p>
          <a:p>
            <a:pPr marL="114300">
              <a:lnSpc>
                <a:spcPct val="100000"/>
              </a:lnSpc>
              <a:spcBef>
                <a:spcPts val="40"/>
              </a:spcBef>
            </a:pPr>
            <a:r>
              <a:rPr sz="650" dirty="0">
                <a:latin typeface="Courier New"/>
                <a:cs typeface="Courier New"/>
              </a:rPr>
              <a:t>),</a:t>
            </a:r>
            <a:r>
              <a:rPr sz="650" spc="60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dim</a:t>
            </a:r>
            <a:r>
              <a:rPr sz="650" spc="60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=</a:t>
            </a:r>
            <a:r>
              <a:rPr sz="650" spc="60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c(3,</a:t>
            </a:r>
            <a:r>
              <a:rPr sz="650" spc="65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7,</a:t>
            </a:r>
            <a:r>
              <a:rPr sz="650" spc="60" dirty="0">
                <a:latin typeface="Courier New"/>
                <a:cs typeface="Courier New"/>
              </a:rPr>
              <a:t> </a:t>
            </a:r>
            <a:r>
              <a:rPr sz="650" spc="-25" dirty="0">
                <a:latin typeface="Courier New"/>
                <a:cs typeface="Courier New"/>
              </a:rPr>
              <a:t>1),</a:t>
            </a:r>
            <a:endParaRPr sz="650">
              <a:latin typeface="Courier New"/>
              <a:cs typeface="Courier New"/>
            </a:endParaRPr>
          </a:p>
          <a:p>
            <a:pPr marL="114300">
              <a:lnSpc>
                <a:spcPct val="100000"/>
              </a:lnSpc>
              <a:spcBef>
                <a:spcPts val="40"/>
              </a:spcBef>
            </a:pPr>
            <a:r>
              <a:rPr sz="650" dirty="0">
                <a:latin typeface="Courier New"/>
                <a:cs typeface="Courier New"/>
              </a:rPr>
              <a:t>dimnames</a:t>
            </a:r>
            <a:r>
              <a:rPr sz="650" spc="100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=</a:t>
            </a:r>
            <a:r>
              <a:rPr sz="650" spc="100" dirty="0">
                <a:latin typeface="Courier New"/>
                <a:cs typeface="Courier New"/>
              </a:rPr>
              <a:t> </a:t>
            </a:r>
            <a:r>
              <a:rPr sz="650" spc="-10" dirty="0">
                <a:latin typeface="Courier New"/>
                <a:cs typeface="Courier New"/>
              </a:rPr>
              <a:t>list(</a:t>
            </a:r>
            <a:endParaRPr sz="650">
              <a:latin typeface="Courier New"/>
              <a:cs typeface="Courier New"/>
            </a:endParaRPr>
          </a:p>
          <a:p>
            <a:pPr marL="114300" marR="1456055">
              <a:lnSpc>
                <a:spcPct val="105100"/>
              </a:lnSpc>
            </a:pPr>
            <a:r>
              <a:rPr sz="650" dirty="0">
                <a:latin typeface="Courier New"/>
                <a:cs typeface="Courier New"/>
              </a:rPr>
              <a:t>c("Chennai",</a:t>
            </a:r>
            <a:r>
              <a:rPr sz="650" spc="245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"Bangalore",</a:t>
            </a:r>
            <a:r>
              <a:rPr sz="650" spc="250" dirty="0">
                <a:latin typeface="Courier New"/>
                <a:cs typeface="Courier New"/>
              </a:rPr>
              <a:t> </a:t>
            </a:r>
            <a:r>
              <a:rPr sz="650" spc="-10" dirty="0">
                <a:latin typeface="Courier New"/>
                <a:cs typeface="Courier New"/>
              </a:rPr>
              <a:t>"Hyderabad"), </a:t>
            </a:r>
            <a:r>
              <a:rPr sz="650" dirty="0">
                <a:latin typeface="Courier New"/>
                <a:cs typeface="Courier New"/>
              </a:rPr>
              <a:t>paste0("Day",</a:t>
            </a:r>
            <a:r>
              <a:rPr sz="650" spc="265" dirty="0">
                <a:latin typeface="Courier New"/>
                <a:cs typeface="Courier New"/>
              </a:rPr>
              <a:t> </a:t>
            </a:r>
            <a:r>
              <a:rPr sz="650" spc="-10" dirty="0">
                <a:latin typeface="Courier New"/>
                <a:cs typeface="Courier New"/>
              </a:rPr>
              <a:t>1:7),</a:t>
            </a:r>
            <a:endParaRPr sz="650">
              <a:latin typeface="Courier New"/>
              <a:cs typeface="Courier New"/>
            </a:endParaRPr>
          </a:p>
          <a:p>
            <a:pPr marL="114300">
              <a:lnSpc>
                <a:spcPct val="100000"/>
              </a:lnSpc>
              <a:spcBef>
                <a:spcPts val="40"/>
              </a:spcBef>
            </a:pPr>
            <a:r>
              <a:rPr sz="650" spc="-10" dirty="0">
                <a:latin typeface="Courier New"/>
                <a:cs typeface="Courier New"/>
              </a:rPr>
              <a:t>"Temperature"</a:t>
            </a:r>
            <a:endParaRPr sz="650">
              <a:latin typeface="Courier New"/>
              <a:cs typeface="Courier New"/>
            </a:endParaRPr>
          </a:p>
          <a:p>
            <a:pPr marL="114300">
              <a:lnSpc>
                <a:spcPct val="100000"/>
              </a:lnSpc>
              <a:spcBef>
                <a:spcPts val="40"/>
              </a:spcBef>
            </a:pPr>
            <a:r>
              <a:rPr sz="650" spc="-25" dirty="0">
                <a:latin typeface="Courier New"/>
                <a:cs typeface="Courier New"/>
              </a:rPr>
              <a:t>))</a:t>
            </a:r>
            <a:endParaRPr sz="6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650">
              <a:latin typeface="Courier New"/>
              <a:cs typeface="Courier New"/>
            </a:endParaRPr>
          </a:p>
          <a:p>
            <a:pPr marL="114300">
              <a:lnSpc>
                <a:spcPct val="100000"/>
              </a:lnSpc>
            </a:pPr>
            <a:r>
              <a:rPr sz="650" dirty="0">
                <a:latin typeface="Courier New"/>
                <a:cs typeface="Courier New"/>
              </a:rPr>
              <a:t>city_avg</a:t>
            </a:r>
            <a:r>
              <a:rPr sz="650" spc="160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&lt;-</a:t>
            </a:r>
            <a:r>
              <a:rPr sz="650" spc="160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apply(temperature,</a:t>
            </a:r>
            <a:r>
              <a:rPr sz="650" spc="160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1,</a:t>
            </a:r>
            <a:r>
              <a:rPr sz="650" spc="160" dirty="0">
                <a:latin typeface="Courier New"/>
                <a:cs typeface="Courier New"/>
              </a:rPr>
              <a:t> </a:t>
            </a:r>
            <a:r>
              <a:rPr sz="650" spc="-10" dirty="0">
                <a:latin typeface="Courier New"/>
                <a:cs typeface="Courier New"/>
              </a:rPr>
              <a:t>mean)</a:t>
            </a:r>
            <a:endParaRPr sz="6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650">
              <a:latin typeface="Courier New"/>
              <a:cs typeface="Courier New"/>
            </a:endParaRPr>
          </a:p>
          <a:p>
            <a:pPr marL="114300" marR="1351915">
              <a:lnSpc>
                <a:spcPct val="105100"/>
              </a:lnSpc>
            </a:pPr>
            <a:r>
              <a:rPr sz="650" dirty="0">
                <a:latin typeface="Courier New"/>
                <a:cs typeface="Courier New"/>
              </a:rPr>
              <a:t>cat("3-dimensional</a:t>
            </a:r>
            <a:r>
              <a:rPr sz="650" spc="295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temperature</a:t>
            </a:r>
            <a:r>
              <a:rPr sz="650" spc="295" dirty="0">
                <a:latin typeface="Courier New"/>
                <a:cs typeface="Courier New"/>
              </a:rPr>
              <a:t> </a:t>
            </a:r>
            <a:r>
              <a:rPr sz="650" spc="-10" dirty="0">
                <a:latin typeface="Courier New"/>
                <a:cs typeface="Courier New"/>
              </a:rPr>
              <a:t>array:\n") print(temperature)</a:t>
            </a:r>
            <a:endParaRPr sz="6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650">
              <a:latin typeface="Courier New"/>
              <a:cs typeface="Courier New"/>
            </a:endParaRPr>
          </a:p>
          <a:p>
            <a:pPr marL="114300" marR="1300480">
              <a:lnSpc>
                <a:spcPct val="105100"/>
              </a:lnSpc>
            </a:pPr>
            <a:r>
              <a:rPr sz="650" dirty="0">
                <a:latin typeface="Courier New"/>
                <a:cs typeface="Courier New"/>
              </a:rPr>
              <a:t>cat("Average</a:t>
            </a:r>
            <a:r>
              <a:rPr sz="650" spc="155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temperature</a:t>
            </a:r>
            <a:r>
              <a:rPr sz="650" spc="155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of</a:t>
            </a:r>
            <a:r>
              <a:rPr sz="650" spc="155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each</a:t>
            </a:r>
            <a:r>
              <a:rPr sz="650" spc="155" dirty="0">
                <a:latin typeface="Courier New"/>
                <a:cs typeface="Courier New"/>
              </a:rPr>
              <a:t> </a:t>
            </a:r>
            <a:r>
              <a:rPr sz="650" spc="-10" dirty="0">
                <a:latin typeface="Courier New"/>
                <a:cs typeface="Courier New"/>
              </a:rPr>
              <a:t>city:\n") print(city_avg)</a:t>
            </a:r>
            <a:endParaRPr sz="6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650">
              <a:latin typeface="Courier New"/>
              <a:cs typeface="Courier New"/>
            </a:endParaRPr>
          </a:p>
          <a:p>
            <a:pPr marL="114300">
              <a:lnSpc>
                <a:spcPct val="100000"/>
              </a:lnSpc>
            </a:pPr>
            <a:r>
              <a:rPr sz="650" dirty="0">
                <a:latin typeface="Courier New"/>
                <a:cs typeface="Courier New"/>
              </a:rPr>
              <a:t>max_value</a:t>
            </a:r>
            <a:r>
              <a:rPr sz="650" spc="120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&lt;-</a:t>
            </a:r>
            <a:r>
              <a:rPr sz="650" spc="120" dirty="0">
                <a:latin typeface="Courier New"/>
                <a:cs typeface="Courier New"/>
              </a:rPr>
              <a:t> </a:t>
            </a:r>
            <a:r>
              <a:rPr sz="650" spc="-10" dirty="0">
                <a:latin typeface="Courier New"/>
                <a:cs typeface="Courier New"/>
              </a:rPr>
              <a:t>max(temperature)</a:t>
            </a:r>
            <a:endParaRPr sz="650">
              <a:latin typeface="Courier New"/>
              <a:cs typeface="Courier New"/>
            </a:endParaRPr>
          </a:p>
          <a:p>
            <a:pPr marL="114300">
              <a:lnSpc>
                <a:spcPct val="100000"/>
              </a:lnSpc>
              <a:spcBef>
                <a:spcPts val="40"/>
              </a:spcBef>
            </a:pPr>
            <a:r>
              <a:rPr sz="650" dirty="0">
                <a:latin typeface="Courier New"/>
                <a:cs typeface="Courier New"/>
              </a:rPr>
              <a:t>position</a:t>
            </a:r>
            <a:r>
              <a:rPr sz="650" spc="145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&lt;-</a:t>
            </a:r>
            <a:r>
              <a:rPr sz="650" spc="145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which(temperature</a:t>
            </a:r>
            <a:r>
              <a:rPr sz="650" spc="145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==</a:t>
            </a:r>
            <a:r>
              <a:rPr sz="650" spc="145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max_value,</a:t>
            </a:r>
            <a:r>
              <a:rPr sz="650" spc="145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arr.ind</a:t>
            </a:r>
            <a:r>
              <a:rPr sz="650" spc="145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=</a:t>
            </a:r>
            <a:r>
              <a:rPr sz="650" spc="145" dirty="0">
                <a:latin typeface="Courier New"/>
                <a:cs typeface="Courier New"/>
              </a:rPr>
              <a:t> </a:t>
            </a:r>
            <a:r>
              <a:rPr sz="650" spc="-10" dirty="0">
                <a:latin typeface="Courier New"/>
                <a:cs typeface="Courier New"/>
              </a:rPr>
              <a:t>TRUE)</a:t>
            </a:r>
            <a:endParaRPr sz="6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650">
              <a:latin typeface="Courier New"/>
              <a:cs typeface="Courier New"/>
            </a:endParaRPr>
          </a:p>
          <a:p>
            <a:pPr marL="114300" marR="1196975">
              <a:lnSpc>
                <a:spcPct val="105100"/>
              </a:lnSpc>
              <a:spcBef>
                <a:spcPts val="5"/>
              </a:spcBef>
            </a:pPr>
            <a:r>
              <a:rPr sz="650" dirty="0">
                <a:latin typeface="Courier New"/>
                <a:cs typeface="Courier New"/>
              </a:rPr>
              <a:t>cat("Hottest</a:t>
            </a:r>
            <a:r>
              <a:rPr sz="650" spc="245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temperature:",</a:t>
            </a:r>
            <a:r>
              <a:rPr sz="650" spc="250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max_value,</a:t>
            </a:r>
            <a:r>
              <a:rPr sz="650" spc="245" dirty="0">
                <a:latin typeface="Courier New"/>
                <a:cs typeface="Courier New"/>
              </a:rPr>
              <a:t> </a:t>
            </a:r>
            <a:r>
              <a:rPr sz="650" spc="-10" dirty="0">
                <a:latin typeface="Courier New"/>
                <a:cs typeface="Courier New"/>
              </a:rPr>
              <a:t>"\n") </a:t>
            </a:r>
            <a:r>
              <a:rPr sz="650" dirty="0">
                <a:latin typeface="Courier New"/>
                <a:cs typeface="Courier New"/>
              </a:rPr>
              <a:t>cat("Hottest</a:t>
            </a:r>
            <a:r>
              <a:rPr sz="650" spc="130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day</a:t>
            </a:r>
            <a:r>
              <a:rPr sz="650" spc="130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and</a:t>
            </a:r>
            <a:r>
              <a:rPr sz="650" spc="130" dirty="0">
                <a:latin typeface="Courier New"/>
                <a:cs typeface="Courier New"/>
              </a:rPr>
              <a:t> </a:t>
            </a:r>
            <a:r>
              <a:rPr sz="650" spc="-10" dirty="0">
                <a:latin typeface="Courier New"/>
                <a:cs typeface="Courier New"/>
              </a:rPr>
              <a:t>city:\n")</a:t>
            </a:r>
            <a:r>
              <a:rPr sz="650" spc="500" dirty="0">
                <a:latin typeface="Courier New"/>
                <a:cs typeface="Courier New"/>
              </a:rPr>
              <a:t> </a:t>
            </a:r>
            <a:r>
              <a:rPr sz="650" spc="-10" dirty="0">
                <a:latin typeface="Courier New"/>
                <a:cs typeface="Courier New"/>
              </a:rPr>
              <a:t>print(position)</a:t>
            </a:r>
            <a:endParaRPr sz="6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650">
              <a:latin typeface="Courier New"/>
              <a:cs typeface="Courier New"/>
            </a:endParaRPr>
          </a:p>
          <a:p>
            <a:pPr marL="114300" marR="212090">
              <a:lnSpc>
                <a:spcPct val="105100"/>
              </a:lnSpc>
            </a:pPr>
            <a:r>
              <a:rPr sz="650" dirty="0">
                <a:latin typeface="Courier New"/>
                <a:cs typeface="Courier New"/>
              </a:rPr>
              <a:t>variation</a:t>
            </a:r>
            <a:r>
              <a:rPr sz="650" spc="150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&lt;-</a:t>
            </a:r>
            <a:r>
              <a:rPr sz="650" spc="150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apply(temperature,</a:t>
            </a:r>
            <a:r>
              <a:rPr sz="650" spc="150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1,</a:t>
            </a:r>
            <a:r>
              <a:rPr sz="650" spc="150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function(x)</a:t>
            </a:r>
            <a:r>
              <a:rPr sz="650" spc="150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max(x)</a:t>
            </a:r>
            <a:r>
              <a:rPr sz="650" spc="150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-</a:t>
            </a:r>
            <a:r>
              <a:rPr sz="650" spc="150" dirty="0">
                <a:latin typeface="Courier New"/>
                <a:cs typeface="Courier New"/>
              </a:rPr>
              <a:t> </a:t>
            </a:r>
            <a:r>
              <a:rPr sz="650" spc="-10" dirty="0">
                <a:latin typeface="Courier New"/>
                <a:cs typeface="Courier New"/>
              </a:rPr>
              <a:t>min(x)) </a:t>
            </a:r>
            <a:r>
              <a:rPr sz="650" dirty="0">
                <a:latin typeface="Courier New"/>
                <a:cs typeface="Courier New"/>
              </a:rPr>
              <a:t>cat("City-wise</a:t>
            </a:r>
            <a:r>
              <a:rPr sz="650" spc="254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temperature</a:t>
            </a:r>
            <a:r>
              <a:rPr sz="650" spc="254" dirty="0">
                <a:latin typeface="Courier New"/>
                <a:cs typeface="Courier New"/>
              </a:rPr>
              <a:t> </a:t>
            </a:r>
            <a:r>
              <a:rPr sz="650" spc="-10" dirty="0">
                <a:latin typeface="Courier New"/>
                <a:cs typeface="Courier New"/>
              </a:rPr>
              <a:t>variation:\n")</a:t>
            </a:r>
            <a:endParaRPr sz="650">
              <a:latin typeface="Courier New"/>
              <a:cs typeface="Courier New"/>
            </a:endParaRPr>
          </a:p>
          <a:p>
            <a:pPr marL="114300">
              <a:lnSpc>
                <a:spcPct val="100000"/>
              </a:lnSpc>
              <a:spcBef>
                <a:spcPts val="40"/>
              </a:spcBef>
            </a:pPr>
            <a:r>
              <a:rPr sz="650" spc="-10" dirty="0">
                <a:latin typeface="Courier New"/>
                <a:cs typeface="Courier New"/>
              </a:rPr>
              <a:t>print(variation)</a:t>
            </a:r>
            <a:endParaRPr sz="650">
              <a:latin typeface="Courier New"/>
              <a:cs typeface="Courier New"/>
            </a:endParaRPr>
          </a:p>
          <a:p>
            <a:pPr marL="167005" indent="-154305">
              <a:lnSpc>
                <a:spcPct val="100000"/>
              </a:lnSpc>
              <a:spcBef>
                <a:spcPts val="610"/>
              </a:spcBef>
              <a:buAutoNum type="arabicPeriod" startAt="4"/>
              <a:tabLst>
                <a:tab pos="167005" algn="l"/>
              </a:tabLst>
            </a:pPr>
            <a:r>
              <a:rPr sz="1100" b="1" dirty="0">
                <a:latin typeface="Arial"/>
                <a:cs typeface="Arial"/>
              </a:rPr>
              <a:t>Product</a:t>
            </a:r>
            <a:r>
              <a:rPr sz="1100" b="1" spc="-2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Inventory</a:t>
            </a:r>
            <a:r>
              <a:rPr sz="1100" b="1" spc="-20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Management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850" dirty="0">
                <a:latin typeface="Arial MT"/>
                <a:cs typeface="Arial MT"/>
              </a:rPr>
              <a:t>The</a:t>
            </a:r>
            <a:r>
              <a:rPr sz="850" spc="35" dirty="0">
                <a:latin typeface="Arial MT"/>
                <a:cs typeface="Arial MT"/>
              </a:rPr>
              <a:t> </a:t>
            </a:r>
            <a:r>
              <a:rPr sz="850" dirty="0">
                <a:latin typeface="Arial MT"/>
                <a:cs typeface="Arial MT"/>
              </a:rPr>
              <a:t>following</a:t>
            </a:r>
            <a:r>
              <a:rPr sz="850" spc="35" dirty="0">
                <a:latin typeface="Arial MT"/>
                <a:cs typeface="Arial MT"/>
              </a:rPr>
              <a:t> </a:t>
            </a:r>
            <a:r>
              <a:rPr sz="850" dirty="0">
                <a:latin typeface="Arial MT"/>
                <a:cs typeface="Arial MT"/>
              </a:rPr>
              <a:t>R</a:t>
            </a:r>
            <a:r>
              <a:rPr sz="850" spc="35" dirty="0">
                <a:latin typeface="Arial MT"/>
                <a:cs typeface="Arial MT"/>
              </a:rPr>
              <a:t> </a:t>
            </a:r>
            <a:r>
              <a:rPr sz="850" dirty="0">
                <a:latin typeface="Arial MT"/>
                <a:cs typeface="Arial MT"/>
              </a:rPr>
              <a:t>program</a:t>
            </a:r>
            <a:r>
              <a:rPr sz="850" spc="40" dirty="0">
                <a:latin typeface="Arial MT"/>
                <a:cs typeface="Arial MT"/>
              </a:rPr>
              <a:t> </a:t>
            </a:r>
            <a:r>
              <a:rPr sz="850" dirty="0">
                <a:latin typeface="Arial MT"/>
                <a:cs typeface="Arial MT"/>
              </a:rPr>
              <a:t>satisfies</a:t>
            </a:r>
            <a:r>
              <a:rPr sz="850" spc="35" dirty="0">
                <a:latin typeface="Arial MT"/>
                <a:cs typeface="Arial MT"/>
              </a:rPr>
              <a:t> </a:t>
            </a:r>
            <a:r>
              <a:rPr sz="850" dirty="0">
                <a:latin typeface="Arial MT"/>
                <a:cs typeface="Arial MT"/>
              </a:rPr>
              <a:t>the</a:t>
            </a:r>
            <a:r>
              <a:rPr sz="850" spc="35" dirty="0">
                <a:latin typeface="Arial MT"/>
                <a:cs typeface="Arial MT"/>
              </a:rPr>
              <a:t> </a:t>
            </a:r>
            <a:r>
              <a:rPr sz="850" dirty="0">
                <a:latin typeface="Arial MT"/>
                <a:cs typeface="Arial MT"/>
              </a:rPr>
              <a:t>requirements</a:t>
            </a:r>
            <a:r>
              <a:rPr sz="850" spc="40" dirty="0">
                <a:latin typeface="Arial MT"/>
                <a:cs typeface="Arial MT"/>
              </a:rPr>
              <a:t> </a:t>
            </a:r>
            <a:r>
              <a:rPr sz="850" dirty="0">
                <a:latin typeface="Arial MT"/>
                <a:cs typeface="Arial MT"/>
              </a:rPr>
              <a:t>given</a:t>
            </a:r>
            <a:r>
              <a:rPr sz="850" spc="35" dirty="0">
                <a:latin typeface="Arial MT"/>
                <a:cs typeface="Arial MT"/>
              </a:rPr>
              <a:t> </a:t>
            </a:r>
            <a:r>
              <a:rPr sz="850" dirty="0">
                <a:latin typeface="Arial MT"/>
                <a:cs typeface="Arial MT"/>
              </a:rPr>
              <a:t>in</a:t>
            </a:r>
            <a:r>
              <a:rPr sz="850" spc="35" dirty="0">
                <a:latin typeface="Arial MT"/>
                <a:cs typeface="Arial MT"/>
              </a:rPr>
              <a:t> </a:t>
            </a:r>
            <a:r>
              <a:rPr sz="850" dirty="0">
                <a:latin typeface="Arial MT"/>
                <a:cs typeface="Arial MT"/>
              </a:rPr>
              <a:t>the</a:t>
            </a:r>
            <a:r>
              <a:rPr sz="850" spc="35" dirty="0">
                <a:latin typeface="Arial MT"/>
                <a:cs typeface="Arial MT"/>
              </a:rPr>
              <a:t> </a:t>
            </a:r>
            <a:r>
              <a:rPr sz="850" spc="-10" dirty="0">
                <a:latin typeface="Arial MT"/>
                <a:cs typeface="Arial MT"/>
              </a:rPr>
              <a:t>question.</a:t>
            </a:r>
            <a:endParaRPr sz="850">
              <a:latin typeface="Arial MT"/>
              <a:cs typeface="Arial MT"/>
            </a:endParaRPr>
          </a:p>
          <a:p>
            <a:pPr marL="114300">
              <a:lnSpc>
                <a:spcPct val="100000"/>
              </a:lnSpc>
              <a:spcBef>
                <a:spcPts val="490"/>
              </a:spcBef>
            </a:pPr>
            <a:r>
              <a:rPr sz="650" dirty="0">
                <a:latin typeface="Courier New"/>
                <a:cs typeface="Courier New"/>
              </a:rPr>
              <a:t>products</a:t>
            </a:r>
            <a:r>
              <a:rPr sz="650" spc="110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&lt;-</a:t>
            </a:r>
            <a:r>
              <a:rPr sz="650" spc="110" dirty="0">
                <a:latin typeface="Courier New"/>
                <a:cs typeface="Courier New"/>
              </a:rPr>
              <a:t> </a:t>
            </a:r>
            <a:r>
              <a:rPr sz="650" spc="-10" dirty="0">
                <a:latin typeface="Courier New"/>
                <a:cs typeface="Courier New"/>
              </a:rPr>
              <a:t>list(</a:t>
            </a:r>
            <a:endParaRPr sz="650">
              <a:latin typeface="Courier New"/>
              <a:cs typeface="Courier New"/>
            </a:endParaRPr>
          </a:p>
          <a:p>
            <a:pPr marL="114300">
              <a:lnSpc>
                <a:spcPct val="100000"/>
              </a:lnSpc>
              <a:spcBef>
                <a:spcPts val="40"/>
              </a:spcBef>
            </a:pPr>
            <a:r>
              <a:rPr sz="650" dirty="0">
                <a:latin typeface="Courier New"/>
                <a:cs typeface="Courier New"/>
              </a:rPr>
              <a:t>Product_ID</a:t>
            </a:r>
            <a:r>
              <a:rPr sz="650" spc="105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=</a:t>
            </a:r>
            <a:r>
              <a:rPr sz="650" spc="110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c(101,</a:t>
            </a:r>
            <a:r>
              <a:rPr sz="650" spc="110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102,</a:t>
            </a:r>
            <a:r>
              <a:rPr sz="650" spc="105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103,</a:t>
            </a:r>
            <a:r>
              <a:rPr sz="650" spc="110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104,</a:t>
            </a:r>
            <a:r>
              <a:rPr sz="650" spc="110" dirty="0">
                <a:latin typeface="Courier New"/>
                <a:cs typeface="Courier New"/>
              </a:rPr>
              <a:t> </a:t>
            </a:r>
            <a:r>
              <a:rPr sz="650" spc="-10" dirty="0">
                <a:latin typeface="Courier New"/>
                <a:cs typeface="Courier New"/>
              </a:rPr>
              <a:t>105),</a:t>
            </a:r>
            <a:endParaRPr sz="650">
              <a:latin typeface="Courier New"/>
              <a:cs typeface="Courier New"/>
            </a:endParaRPr>
          </a:p>
          <a:p>
            <a:pPr marL="114300" marR="212090">
              <a:lnSpc>
                <a:spcPct val="105100"/>
              </a:lnSpc>
            </a:pPr>
            <a:r>
              <a:rPr sz="650" dirty="0">
                <a:latin typeface="Courier New"/>
                <a:cs typeface="Courier New"/>
              </a:rPr>
              <a:t>Product_Name</a:t>
            </a:r>
            <a:r>
              <a:rPr sz="650" spc="165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=</a:t>
            </a:r>
            <a:r>
              <a:rPr sz="650" spc="165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c("Pen",</a:t>
            </a:r>
            <a:r>
              <a:rPr sz="650" spc="170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"Notebook",</a:t>
            </a:r>
            <a:r>
              <a:rPr sz="650" spc="165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"Bag",</a:t>
            </a:r>
            <a:r>
              <a:rPr sz="650" spc="165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"Bottle",</a:t>
            </a:r>
            <a:r>
              <a:rPr sz="650" spc="170" dirty="0">
                <a:latin typeface="Courier New"/>
                <a:cs typeface="Courier New"/>
              </a:rPr>
              <a:t> </a:t>
            </a:r>
            <a:r>
              <a:rPr sz="650" spc="-10" dirty="0">
                <a:latin typeface="Courier New"/>
                <a:cs typeface="Courier New"/>
              </a:rPr>
              <a:t>"Pencil"), </a:t>
            </a:r>
            <a:r>
              <a:rPr sz="650" dirty="0">
                <a:latin typeface="Courier New"/>
                <a:cs typeface="Courier New"/>
              </a:rPr>
              <a:t>Quantity</a:t>
            </a:r>
            <a:r>
              <a:rPr sz="650" spc="85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=</a:t>
            </a:r>
            <a:r>
              <a:rPr sz="650" spc="85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c(50,</a:t>
            </a:r>
            <a:r>
              <a:rPr sz="650" spc="85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20,</a:t>
            </a:r>
            <a:r>
              <a:rPr sz="650" spc="85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8,</a:t>
            </a:r>
            <a:r>
              <a:rPr sz="650" spc="90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15,</a:t>
            </a:r>
            <a:r>
              <a:rPr sz="650" spc="85" dirty="0">
                <a:latin typeface="Courier New"/>
                <a:cs typeface="Courier New"/>
              </a:rPr>
              <a:t> </a:t>
            </a:r>
            <a:r>
              <a:rPr sz="650" spc="-20" dirty="0">
                <a:latin typeface="Courier New"/>
                <a:cs typeface="Courier New"/>
              </a:rPr>
              <a:t>60),</a:t>
            </a:r>
            <a:endParaRPr sz="650">
              <a:latin typeface="Courier New"/>
              <a:cs typeface="Courier New"/>
            </a:endParaRPr>
          </a:p>
          <a:p>
            <a:pPr marL="114300">
              <a:lnSpc>
                <a:spcPct val="100000"/>
              </a:lnSpc>
              <a:spcBef>
                <a:spcPts val="40"/>
              </a:spcBef>
            </a:pPr>
            <a:r>
              <a:rPr sz="650" dirty="0">
                <a:latin typeface="Courier New"/>
                <a:cs typeface="Courier New"/>
              </a:rPr>
              <a:t>Price</a:t>
            </a:r>
            <a:r>
              <a:rPr sz="650" spc="85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=</a:t>
            </a:r>
            <a:r>
              <a:rPr sz="650" spc="85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c(10,</a:t>
            </a:r>
            <a:r>
              <a:rPr sz="650" spc="85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50,</a:t>
            </a:r>
            <a:r>
              <a:rPr sz="650" spc="85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800,</a:t>
            </a:r>
            <a:r>
              <a:rPr sz="650" spc="90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300,</a:t>
            </a:r>
            <a:r>
              <a:rPr sz="650" spc="85" dirty="0">
                <a:latin typeface="Courier New"/>
                <a:cs typeface="Courier New"/>
              </a:rPr>
              <a:t> </a:t>
            </a:r>
            <a:r>
              <a:rPr sz="650" spc="-25" dirty="0">
                <a:latin typeface="Courier New"/>
                <a:cs typeface="Courier New"/>
              </a:rPr>
              <a:t>5)</a:t>
            </a:r>
            <a:endParaRPr sz="650">
              <a:latin typeface="Courier New"/>
              <a:cs typeface="Courier New"/>
            </a:endParaRPr>
          </a:p>
          <a:p>
            <a:pPr marL="114300">
              <a:lnSpc>
                <a:spcPct val="100000"/>
              </a:lnSpc>
              <a:spcBef>
                <a:spcPts val="40"/>
              </a:spcBef>
            </a:pPr>
            <a:r>
              <a:rPr sz="650" spc="-50" dirty="0">
                <a:latin typeface="Courier New"/>
                <a:cs typeface="Courier New"/>
              </a:rPr>
              <a:t>)</a:t>
            </a:r>
            <a:endParaRPr sz="6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650">
              <a:latin typeface="Courier New"/>
              <a:cs typeface="Courier New"/>
            </a:endParaRPr>
          </a:p>
          <a:p>
            <a:pPr marL="114300" marR="730250">
              <a:lnSpc>
                <a:spcPct val="105100"/>
              </a:lnSpc>
            </a:pPr>
            <a:r>
              <a:rPr sz="650" dirty="0">
                <a:latin typeface="Courier New"/>
                <a:cs typeface="Courier New"/>
              </a:rPr>
              <a:t>inventory_value</a:t>
            </a:r>
            <a:r>
              <a:rPr sz="650" spc="180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&lt;-</a:t>
            </a:r>
            <a:r>
              <a:rPr sz="650" spc="185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products$Quantity</a:t>
            </a:r>
            <a:r>
              <a:rPr sz="650" spc="185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*</a:t>
            </a:r>
            <a:r>
              <a:rPr sz="650" spc="185" dirty="0">
                <a:latin typeface="Courier New"/>
                <a:cs typeface="Courier New"/>
              </a:rPr>
              <a:t> </a:t>
            </a:r>
            <a:r>
              <a:rPr sz="650" spc="-10" dirty="0">
                <a:latin typeface="Courier New"/>
                <a:cs typeface="Courier New"/>
              </a:rPr>
              <a:t>products$Price </a:t>
            </a:r>
            <a:r>
              <a:rPr sz="650" dirty="0">
                <a:latin typeface="Courier New"/>
                <a:cs typeface="Courier New"/>
              </a:rPr>
              <a:t>threshold</a:t>
            </a:r>
            <a:r>
              <a:rPr sz="650" spc="120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&lt;-</a:t>
            </a:r>
            <a:r>
              <a:rPr sz="650" spc="120" dirty="0">
                <a:latin typeface="Courier New"/>
                <a:cs typeface="Courier New"/>
              </a:rPr>
              <a:t> </a:t>
            </a:r>
            <a:r>
              <a:rPr sz="650" spc="-25" dirty="0">
                <a:latin typeface="Courier New"/>
                <a:cs typeface="Courier New"/>
              </a:rPr>
              <a:t>10</a:t>
            </a:r>
            <a:endParaRPr sz="6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650">
              <a:latin typeface="Courier New"/>
              <a:cs typeface="Courier New"/>
            </a:endParaRPr>
          </a:p>
          <a:p>
            <a:pPr marL="114300" marR="1766570">
              <a:lnSpc>
                <a:spcPct val="105100"/>
              </a:lnSpc>
            </a:pPr>
            <a:r>
              <a:rPr sz="650" dirty="0">
                <a:latin typeface="Courier New"/>
                <a:cs typeface="Courier New"/>
              </a:rPr>
              <a:t>inventory</a:t>
            </a:r>
            <a:r>
              <a:rPr sz="650" spc="120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&lt;-</a:t>
            </a:r>
            <a:r>
              <a:rPr sz="650" spc="120" dirty="0">
                <a:latin typeface="Courier New"/>
                <a:cs typeface="Courier New"/>
              </a:rPr>
              <a:t> </a:t>
            </a:r>
            <a:r>
              <a:rPr sz="650" spc="-10" dirty="0">
                <a:latin typeface="Courier New"/>
                <a:cs typeface="Courier New"/>
              </a:rPr>
              <a:t>data.frame(</a:t>
            </a:r>
            <a:r>
              <a:rPr sz="650" dirty="0">
                <a:latin typeface="Courier New"/>
                <a:cs typeface="Courier New"/>
              </a:rPr>
              <a:t> Product_ID</a:t>
            </a:r>
            <a:r>
              <a:rPr sz="650" spc="120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=</a:t>
            </a:r>
            <a:r>
              <a:rPr sz="650" spc="120" dirty="0">
                <a:latin typeface="Courier New"/>
                <a:cs typeface="Courier New"/>
              </a:rPr>
              <a:t> </a:t>
            </a:r>
            <a:r>
              <a:rPr sz="650" spc="-10" dirty="0">
                <a:latin typeface="Courier New"/>
                <a:cs typeface="Courier New"/>
              </a:rPr>
              <a:t>products$Product_ID,</a:t>
            </a:r>
            <a:endParaRPr sz="650">
              <a:latin typeface="Courier New"/>
              <a:cs typeface="Courier New"/>
            </a:endParaRPr>
          </a:p>
          <a:p>
            <a:pPr marL="114300" marR="1559560">
              <a:lnSpc>
                <a:spcPct val="105100"/>
              </a:lnSpc>
            </a:pPr>
            <a:r>
              <a:rPr sz="650" dirty="0">
                <a:latin typeface="Courier New"/>
                <a:cs typeface="Courier New"/>
              </a:rPr>
              <a:t>Product_Name</a:t>
            </a:r>
            <a:r>
              <a:rPr sz="650" spc="140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=</a:t>
            </a:r>
            <a:r>
              <a:rPr sz="650" spc="140" dirty="0">
                <a:latin typeface="Courier New"/>
                <a:cs typeface="Courier New"/>
              </a:rPr>
              <a:t> </a:t>
            </a:r>
            <a:r>
              <a:rPr sz="650" spc="-10" dirty="0">
                <a:latin typeface="Courier New"/>
                <a:cs typeface="Courier New"/>
              </a:rPr>
              <a:t>products$Product_Name, </a:t>
            </a:r>
            <a:r>
              <a:rPr sz="650" dirty="0">
                <a:latin typeface="Courier New"/>
                <a:cs typeface="Courier New"/>
              </a:rPr>
              <a:t>Quantity</a:t>
            </a:r>
            <a:r>
              <a:rPr sz="650" spc="100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=</a:t>
            </a:r>
            <a:r>
              <a:rPr sz="650" spc="100" dirty="0">
                <a:latin typeface="Courier New"/>
                <a:cs typeface="Courier New"/>
              </a:rPr>
              <a:t> </a:t>
            </a:r>
            <a:r>
              <a:rPr sz="650" spc="-10" dirty="0">
                <a:latin typeface="Courier New"/>
                <a:cs typeface="Courier New"/>
              </a:rPr>
              <a:t>products$Quantity,</a:t>
            </a:r>
            <a:endParaRPr sz="650">
              <a:latin typeface="Courier New"/>
              <a:cs typeface="Courier New"/>
            </a:endParaRPr>
          </a:p>
          <a:p>
            <a:pPr marL="114300" marR="1766570">
              <a:lnSpc>
                <a:spcPct val="105100"/>
              </a:lnSpc>
            </a:pPr>
            <a:r>
              <a:rPr sz="650" dirty="0">
                <a:latin typeface="Courier New"/>
                <a:cs typeface="Courier New"/>
              </a:rPr>
              <a:t>Price</a:t>
            </a:r>
            <a:r>
              <a:rPr sz="650" spc="70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=</a:t>
            </a:r>
            <a:r>
              <a:rPr sz="650" spc="75" dirty="0">
                <a:latin typeface="Courier New"/>
                <a:cs typeface="Courier New"/>
              </a:rPr>
              <a:t> </a:t>
            </a:r>
            <a:r>
              <a:rPr sz="650" spc="-10" dirty="0">
                <a:latin typeface="Courier New"/>
                <a:cs typeface="Courier New"/>
              </a:rPr>
              <a:t>products$Price, </a:t>
            </a:r>
            <a:r>
              <a:rPr sz="650" dirty="0">
                <a:latin typeface="Courier New"/>
                <a:cs typeface="Courier New"/>
              </a:rPr>
              <a:t>Inventory_Value</a:t>
            </a:r>
            <a:r>
              <a:rPr sz="650" spc="170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=</a:t>
            </a:r>
            <a:r>
              <a:rPr sz="650" spc="170" dirty="0">
                <a:latin typeface="Courier New"/>
                <a:cs typeface="Courier New"/>
              </a:rPr>
              <a:t> </a:t>
            </a:r>
            <a:r>
              <a:rPr sz="650" spc="-10" dirty="0">
                <a:latin typeface="Courier New"/>
                <a:cs typeface="Courier New"/>
              </a:rPr>
              <a:t>inventory_value</a:t>
            </a:r>
            <a:endParaRPr sz="650">
              <a:latin typeface="Courier New"/>
              <a:cs typeface="Courier New"/>
            </a:endParaRPr>
          </a:p>
          <a:p>
            <a:pPr marL="114300">
              <a:lnSpc>
                <a:spcPct val="100000"/>
              </a:lnSpc>
              <a:spcBef>
                <a:spcPts val="40"/>
              </a:spcBef>
            </a:pPr>
            <a:r>
              <a:rPr sz="650" spc="-50" dirty="0">
                <a:latin typeface="Courier New"/>
                <a:cs typeface="Courier New"/>
              </a:rPr>
              <a:t>)</a:t>
            </a:r>
            <a:endParaRPr sz="6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650">
              <a:latin typeface="Courier New"/>
              <a:cs typeface="Courier New"/>
            </a:endParaRPr>
          </a:p>
          <a:p>
            <a:pPr marL="114300" marR="2077720">
              <a:lnSpc>
                <a:spcPct val="105100"/>
              </a:lnSpc>
            </a:pPr>
            <a:r>
              <a:rPr sz="650" dirty="0">
                <a:latin typeface="Courier New"/>
                <a:cs typeface="Courier New"/>
              </a:rPr>
              <a:t>cat("Inventory</a:t>
            </a:r>
            <a:r>
              <a:rPr sz="650" spc="285" dirty="0">
                <a:latin typeface="Courier New"/>
                <a:cs typeface="Courier New"/>
              </a:rPr>
              <a:t> </a:t>
            </a:r>
            <a:r>
              <a:rPr sz="650" spc="-10" dirty="0">
                <a:latin typeface="Courier New"/>
                <a:cs typeface="Courier New"/>
              </a:rPr>
              <a:t>details:\n") print(inventory)</a:t>
            </a:r>
            <a:endParaRPr sz="6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650">
              <a:latin typeface="Courier New"/>
              <a:cs typeface="Courier New"/>
            </a:endParaRPr>
          </a:p>
          <a:p>
            <a:pPr marL="114300" marR="574675">
              <a:lnSpc>
                <a:spcPct val="105100"/>
              </a:lnSpc>
              <a:spcBef>
                <a:spcPts val="5"/>
              </a:spcBef>
            </a:pPr>
            <a:r>
              <a:rPr sz="650" spc="10" dirty="0">
                <a:latin typeface="Courier New"/>
                <a:cs typeface="Courier New"/>
              </a:rPr>
              <a:t>low_stock</a:t>
            </a:r>
            <a:r>
              <a:rPr sz="650" spc="105" dirty="0">
                <a:latin typeface="Courier New"/>
                <a:cs typeface="Courier New"/>
              </a:rPr>
              <a:t> </a:t>
            </a:r>
            <a:r>
              <a:rPr sz="650" spc="10" dirty="0">
                <a:latin typeface="Courier New"/>
                <a:cs typeface="Courier New"/>
              </a:rPr>
              <a:t>&lt;-</a:t>
            </a:r>
            <a:r>
              <a:rPr sz="650" spc="110" dirty="0">
                <a:latin typeface="Courier New"/>
                <a:cs typeface="Courier New"/>
              </a:rPr>
              <a:t> </a:t>
            </a:r>
            <a:r>
              <a:rPr sz="650" spc="10" dirty="0">
                <a:latin typeface="Courier New"/>
                <a:cs typeface="Courier New"/>
              </a:rPr>
              <a:t>inventory[inventory$Quantity</a:t>
            </a:r>
            <a:r>
              <a:rPr sz="650" spc="110" dirty="0">
                <a:latin typeface="Courier New"/>
                <a:cs typeface="Courier New"/>
              </a:rPr>
              <a:t> </a:t>
            </a:r>
            <a:r>
              <a:rPr sz="650" spc="10" dirty="0">
                <a:latin typeface="Courier New"/>
                <a:cs typeface="Courier New"/>
              </a:rPr>
              <a:t>&lt;</a:t>
            </a:r>
            <a:r>
              <a:rPr sz="650" spc="110" dirty="0">
                <a:latin typeface="Courier New"/>
                <a:cs typeface="Courier New"/>
              </a:rPr>
              <a:t> </a:t>
            </a:r>
            <a:r>
              <a:rPr sz="650" spc="10" dirty="0">
                <a:latin typeface="Courier New"/>
                <a:cs typeface="Courier New"/>
              </a:rPr>
              <a:t>threshold,</a:t>
            </a:r>
            <a:r>
              <a:rPr sz="650" spc="105" dirty="0">
                <a:latin typeface="Courier New"/>
                <a:cs typeface="Courier New"/>
              </a:rPr>
              <a:t> </a:t>
            </a:r>
            <a:r>
              <a:rPr sz="650" spc="-50" dirty="0">
                <a:latin typeface="Courier New"/>
                <a:cs typeface="Courier New"/>
              </a:rPr>
              <a:t>] </a:t>
            </a:r>
            <a:r>
              <a:rPr sz="650" dirty="0">
                <a:latin typeface="Courier New"/>
                <a:cs typeface="Courier New"/>
              </a:rPr>
              <a:t>cat("Products</a:t>
            </a:r>
            <a:r>
              <a:rPr sz="650" spc="185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below</a:t>
            </a:r>
            <a:r>
              <a:rPr sz="650" spc="190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stock</a:t>
            </a:r>
            <a:r>
              <a:rPr sz="650" spc="190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threshold:",</a:t>
            </a:r>
            <a:r>
              <a:rPr sz="650" spc="190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threshold,</a:t>
            </a:r>
            <a:r>
              <a:rPr sz="650" spc="190" dirty="0">
                <a:latin typeface="Courier New"/>
                <a:cs typeface="Courier New"/>
              </a:rPr>
              <a:t> </a:t>
            </a:r>
            <a:r>
              <a:rPr sz="650" spc="-10" dirty="0">
                <a:latin typeface="Courier New"/>
                <a:cs typeface="Courier New"/>
              </a:rPr>
              <a:t>"\n") print(low_stock)</a:t>
            </a:r>
            <a:endParaRPr sz="6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650">
              <a:latin typeface="Courier New"/>
              <a:cs typeface="Courier New"/>
            </a:endParaRPr>
          </a:p>
          <a:p>
            <a:pPr marL="114300">
              <a:lnSpc>
                <a:spcPct val="100000"/>
              </a:lnSpc>
            </a:pPr>
            <a:r>
              <a:rPr sz="650" dirty="0">
                <a:latin typeface="Courier New"/>
                <a:cs typeface="Courier New"/>
              </a:rPr>
              <a:t>cat("Stock</a:t>
            </a:r>
            <a:r>
              <a:rPr sz="650" spc="175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Summary</a:t>
            </a:r>
            <a:r>
              <a:rPr sz="650" spc="180" dirty="0">
                <a:latin typeface="Courier New"/>
                <a:cs typeface="Courier New"/>
              </a:rPr>
              <a:t> </a:t>
            </a:r>
            <a:r>
              <a:rPr sz="650" spc="-10" dirty="0">
                <a:latin typeface="Courier New"/>
                <a:cs typeface="Courier New"/>
              </a:rPr>
              <a:t>Report:\n")</a:t>
            </a:r>
            <a:endParaRPr sz="650">
              <a:latin typeface="Courier New"/>
              <a:cs typeface="Courier New"/>
            </a:endParaRPr>
          </a:p>
          <a:p>
            <a:pPr marL="114300" marR="626745">
              <a:lnSpc>
                <a:spcPct val="105100"/>
              </a:lnSpc>
            </a:pPr>
            <a:r>
              <a:rPr sz="650" dirty="0">
                <a:latin typeface="Courier New"/>
                <a:cs typeface="Courier New"/>
              </a:rPr>
              <a:t>cat("Total</a:t>
            </a:r>
            <a:r>
              <a:rPr sz="650" spc="185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number</a:t>
            </a:r>
            <a:r>
              <a:rPr sz="650" spc="190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of</a:t>
            </a:r>
            <a:r>
              <a:rPr sz="650" spc="190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products:",</a:t>
            </a:r>
            <a:r>
              <a:rPr sz="650" spc="190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nrow(inventory),</a:t>
            </a:r>
            <a:r>
              <a:rPr sz="650" spc="190" dirty="0">
                <a:latin typeface="Courier New"/>
                <a:cs typeface="Courier New"/>
              </a:rPr>
              <a:t> </a:t>
            </a:r>
            <a:r>
              <a:rPr sz="650" spc="-10" dirty="0">
                <a:latin typeface="Courier New"/>
                <a:cs typeface="Courier New"/>
              </a:rPr>
              <a:t>"\n") </a:t>
            </a:r>
            <a:r>
              <a:rPr sz="650" spc="10" dirty="0">
                <a:latin typeface="Courier New"/>
                <a:cs typeface="Courier New"/>
              </a:rPr>
              <a:t>cat("Total</a:t>
            </a:r>
            <a:r>
              <a:rPr sz="650" spc="155" dirty="0">
                <a:latin typeface="Courier New"/>
                <a:cs typeface="Courier New"/>
              </a:rPr>
              <a:t> </a:t>
            </a:r>
            <a:r>
              <a:rPr sz="650" spc="10" dirty="0">
                <a:latin typeface="Courier New"/>
                <a:cs typeface="Courier New"/>
              </a:rPr>
              <a:t>quantity:",</a:t>
            </a:r>
            <a:r>
              <a:rPr sz="650" spc="155" dirty="0">
                <a:latin typeface="Courier New"/>
                <a:cs typeface="Courier New"/>
              </a:rPr>
              <a:t> </a:t>
            </a:r>
            <a:r>
              <a:rPr sz="650" spc="10" dirty="0">
                <a:latin typeface="Courier New"/>
                <a:cs typeface="Courier New"/>
              </a:rPr>
              <a:t>sum(inventory$Quantity),</a:t>
            </a:r>
            <a:r>
              <a:rPr sz="650" spc="155" dirty="0">
                <a:latin typeface="Courier New"/>
                <a:cs typeface="Courier New"/>
              </a:rPr>
              <a:t> </a:t>
            </a:r>
            <a:r>
              <a:rPr sz="650" spc="-10" dirty="0">
                <a:latin typeface="Courier New"/>
                <a:cs typeface="Courier New"/>
              </a:rPr>
              <a:t>"\n")</a:t>
            </a:r>
            <a:endParaRPr sz="650">
              <a:latin typeface="Courier New"/>
              <a:cs typeface="Courier New"/>
            </a:endParaRPr>
          </a:p>
          <a:p>
            <a:pPr marL="114300">
              <a:lnSpc>
                <a:spcPct val="100000"/>
              </a:lnSpc>
              <a:spcBef>
                <a:spcPts val="40"/>
              </a:spcBef>
            </a:pPr>
            <a:r>
              <a:rPr sz="650" spc="10" dirty="0">
                <a:latin typeface="Courier New"/>
                <a:cs typeface="Courier New"/>
              </a:rPr>
              <a:t>cat("Total</a:t>
            </a:r>
            <a:r>
              <a:rPr sz="650" spc="150" dirty="0">
                <a:latin typeface="Courier New"/>
                <a:cs typeface="Courier New"/>
              </a:rPr>
              <a:t> </a:t>
            </a:r>
            <a:r>
              <a:rPr sz="650" spc="10" dirty="0">
                <a:latin typeface="Courier New"/>
                <a:cs typeface="Courier New"/>
              </a:rPr>
              <a:t>inventory</a:t>
            </a:r>
            <a:r>
              <a:rPr sz="650" spc="150" dirty="0">
                <a:latin typeface="Courier New"/>
                <a:cs typeface="Courier New"/>
              </a:rPr>
              <a:t> </a:t>
            </a:r>
            <a:r>
              <a:rPr sz="650" spc="10" dirty="0">
                <a:latin typeface="Courier New"/>
                <a:cs typeface="Courier New"/>
              </a:rPr>
              <a:t>value:",</a:t>
            </a:r>
            <a:r>
              <a:rPr sz="650" spc="150" dirty="0">
                <a:latin typeface="Courier New"/>
                <a:cs typeface="Courier New"/>
              </a:rPr>
              <a:t> </a:t>
            </a:r>
            <a:r>
              <a:rPr sz="650" spc="10" dirty="0">
                <a:latin typeface="Courier New"/>
                <a:cs typeface="Courier New"/>
              </a:rPr>
              <a:t>sum(inventory$Inventory_Value),</a:t>
            </a:r>
            <a:r>
              <a:rPr sz="650" spc="150" dirty="0">
                <a:latin typeface="Courier New"/>
                <a:cs typeface="Courier New"/>
              </a:rPr>
              <a:t> </a:t>
            </a:r>
            <a:r>
              <a:rPr sz="650" spc="-10" dirty="0">
                <a:latin typeface="Courier New"/>
                <a:cs typeface="Courier New"/>
              </a:rPr>
              <a:t>"\n")</a:t>
            </a:r>
            <a:endParaRPr sz="650">
              <a:latin typeface="Courier New"/>
              <a:cs typeface="Courier New"/>
            </a:endParaRPr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67500" y="495499"/>
            <a:ext cx="3594100" cy="4010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latin typeface="Arial"/>
                <a:cs typeface="Arial"/>
              </a:rPr>
              <a:t>5.</a:t>
            </a:r>
            <a:r>
              <a:rPr sz="1100" b="1" spc="-3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Bank</a:t>
            </a:r>
            <a:r>
              <a:rPr sz="1100" b="1" spc="-3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Account</a:t>
            </a:r>
            <a:r>
              <a:rPr sz="1100" b="1" spc="-3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Processing</a:t>
            </a:r>
            <a:r>
              <a:rPr sz="1100" b="1" spc="-3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Using</a:t>
            </a:r>
            <a:r>
              <a:rPr sz="1100" b="1" spc="-35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Functions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850" dirty="0">
                <a:latin typeface="Arial MT"/>
                <a:cs typeface="Arial MT"/>
              </a:rPr>
              <a:t>The</a:t>
            </a:r>
            <a:r>
              <a:rPr sz="850" spc="35" dirty="0">
                <a:latin typeface="Arial MT"/>
                <a:cs typeface="Arial MT"/>
              </a:rPr>
              <a:t> </a:t>
            </a:r>
            <a:r>
              <a:rPr sz="850" dirty="0">
                <a:latin typeface="Arial MT"/>
                <a:cs typeface="Arial MT"/>
              </a:rPr>
              <a:t>following</a:t>
            </a:r>
            <a:r>
              <a:rPr sz="850" spc="35" dirty="0">
                <a:latin typeface="Arial MT"/>
                <a:cs typeface="Arial MT"/>
              </a:rPr>
              <a:t> </a:t>
            </a:r>
            <a:r>
              <a:rPr sz="850" dirty="0">
                <a:latin typeface="Arial MT"/>
                <a:cs typeface="Arial MT"/>
              </a:rPr>
              <a:t>R</a:t>
            </a:r>
            <a:r>
              <a:rPr sz="850" spc="35" dirty="0">
                <a:latin typeface="Arial MT"/>
                <a:cs typeface="Arial MT"/>
              </a:rPr>
              <a:t> </a:t>
            </a:r>
            <a:r>
              <a:rPr sz="850" dirty="0">
                <a:latin typeface="Arial MT"/>
                <a:cs typeface="Arial MT"/>
              </a:rPr>
              <a:t>program</a:t>
            </a:r>
            <a:r>
              <a:rPr sz="850" spc="40" dirty="0">
                <a:latin typeface="Arial MT"/>
                <a:cs typeface="Arial MT"/>
              </a:rPr>
              <a:t> </a:t>
            </a:r>
            <a:r>
              <a:rPr sz="850" dirty="0">
                <a:latin typeface="Arial MT"/>
                <a:cs typeface="Arial MT"/>
              </a:rPr>
              <a:t>satisfies</a:t>
            </a:r>
            <a:r>
              <a:rPr sz="850" spc="35" dirty="0">
                <a:latin typeface="Arial MT"/>
                <a:cs typeface="Arial MT"/>
              </a:rPr>
              <a:t> </a:t>
            </a:r>
            <a:r>
              <a:rPr sz="850" dirty="0">
                <a:latin typeface="Arial MT"/>
                <a:cs typeface="Arial MT"/>
              </a:rPr>
              <a:t>the</a:t>
            </a:r>
            <a:r>
              <a:rPr sz="850" spc="35" dirty="0">
                <a:latin typeface="Arial MT"/>
                <a:cs typeface="Arial MT"/>
              </a:rPr>
              <a:t> </a:t>
            </a:r>
            <a:r>
              <a:rPr sz="850" dirty="0">
                <a:latin typeface="Arial MT"/>
                <a:cs typeface="Arial MT"/>
              </a:rPr>
              <a:t>requirements</a:t>
            </a:r>
            <a:r>
              <a:rPr sz="850" spc="40" dirty="0">
                <a:latin typeface="Arial MT"/>
                <a:cs typeface="Arial MT"/>
              </a:rPr>
              <a:t> </a:t>
            </a:r>
            <a:r>
              <a:rPr sz="850" dirty="0">
                <a:latin typeface="Arial MT"/>
                <a:cs typeface="Arial MT"/>
              </a:rPr>
              <a:t>given</a:t>
            </a:r>
            <a:r>
              <a:rPr sz="850" spc="35" dirty="0">
                <a:latin typeface="Arial MT"/>
                <a:cs typeface="Arial MT"/>
              </a:rPr>
              <a:t> </a:t>
            </a:r>
            <a:r>
              <a:rPr sz="850" dirty="0">
                <a:latin typeface="Arial MT"/>
                <a:cs typeface="Arial MT"/>
              </a:rPr>
              <a:t>in</a:t>
            </a:r>
            <a:r>
              <a:rPr sz="850" spc="35" dirty="0">
                <a:latin typeface="Arial MT"/>
                <a:cs typeface="Arial MT"/>
              </a:rPr>
              <a:t> </a:t>
            </a:r>
            <a:r>
              <a:rPr sz="850" dirty="0">
                <a:latin typeface="Arial MT"/>
                <a:cs typeface="Arial MT"/>
              </a:rPr>
              <a:t>the</a:t>
            </a:r>
            <a:r>
              <a:rPr sz="850" spc="35" dirty="0">
                <a:latin typeface="Arial MT"/>
                <a:cs typeface="Arial MT"/>
              </a:rPr>
              <a:t> </a:t>
            </a:r>
            <a:r>
              <a:rPr sz="850" spc="-10" dirty="0">
                <a:latin typeface="Arial MT"/>
                <a:cs typeface="Arial MT"/>
              </a:rPr>
              <a:t>question.</a:t>
            </a:r>
            <a:endParaRPr sz="850">
              <a:latin typeface="Arial MT"/>
              <a:cs typeface="Arial MT"/>
            </a:endParaRPr>
          </a:p>
          <a:p>
            <a:pPr marL="114300" marR="2331085">
              <a:lnSpc>
                <a:spcPct val="105100"/>
              </a:lnSpc>
              <a:spcBef>
                <a:spcPts val="450"/>
              </a:spcBef>
            </a:pPr>
            <a:r>
              <a:rPr sz="650" dirty="0">
                <a:latin typeface="Courier New"/>
                <a:cs typeface="Courier New"/>
              </a:rPr>
              <a:t>balance</a:t>
            </a:r>
            <a:r>
              <a:rPr sz="650" spc="100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&lt;-</a:t>
            </a:r>
            <a:r>
              <a:rPr sz="650" spc="100" dirty="0">
                <a:latin typeface="Courier New"/>
                <a:cs typeface="Courier New"/>
              </a:rPr>
              <a:t> </a:t>
            </a:r>
            <a:r>
              <a:rPr sz="650" spc="-10" dirty="0">
                <a:latin typeface="Courier New"/>
                <a:cs typeface="Courier New"/>
              </a:rPr>
              <a:t>10000 </a:t>
            </a:r>
            <a:r>
              <a:rPr sz="650" dirty="0">
                <a:latin typeface="Courier New"/>
                <a:cs typeface="Courier New"/>
              </a:rPr>
              <a:t>history</a:t>
            </a:r>
            <a:r>
              <a:rPr sz="650" spc="100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&lt;-</a:t>
            </a:r>
            <a:r>
              <a:rPr sz="650" spc="100" dirty="0">
                <a:latin typeface="Courier New"/>
                <a:cs typeface="Courier New"/>
              </a:rPr>
              <a:t> </a:t>
            </a:r>
            <a:r>
              <a:rPr sz="650" spc="-10" dirty="0">
                <a:latin typeface="Courier New"/>
                <a:cs typeface="Courier New"/>
              </a:rPr>
              <a:t>character()</a:t>
            </a:r>
            <a:endParaRPr sz="6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650">
              <a:latin typeface="Courier New"/>
              <a:cs typeface="Courier New"/>
            </a:endParaRPr>
          </a:p>
          <a:p>
            <a:pPr marL="114300" marR="1968500">
              <a:lnSpc>
                <a:spcPct val="105100"/>
              </a:lnSpc>
              <a:spcBef>
                <a:spcPts val="5"/>
              </a:spcBef>
            </a:pPr>
            <a:r>
              <a:rPr sz="650" dirty="0">
                <a:latin typeface="Courier New"/>
                <a:cs typeface="Courier New"/>
              </a:rPr>
              <a:t>deposit</a:t>
            </a:r>
            <a:r>
              <a:rPr sz="650" spc="175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&lt;-</a:t>
            </a:r>
            <a:r>
              <a:rPr sz="650" spc="175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function(amount)</a:t>
            </a:r>
            <a:r>
              <a:rPr sz="650" spc="175" dirty="0">
                <a:latin typeface="Courier New"/>
                <a:cs typeface="Courier New"/>
              </a:rPr>
              <a:t> </a:t>
            </a:r>
            <a:r>
              <a:rPr sz="650" spc="-50" dirty="0">
                <a:latin typeface="Courier New"/>
                <a:cs typeface="Courier New"/>
              </a:rPr>
              <a:t>{ </a:t>
            </a:r>
            <a:r>
              <a:rPr sz="650" dirty="0">
                <a:latin typeface="Courier New"/>
                <a:cs typeface="Courier New"/>
              </a:rPr>
              <a:t>balance</a:t>
            </a:r>
            <a:r>
              <a:rPr sz="650" spc="100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&lt;&lt;-</a:t>
            </a:r>
            <a:r>
              <a:rPr sz="650" spc="100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balance</a:t>
            </a:r>
            <a:r>
              <a:rPr sz="650" spc="105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+</a:t>
            </a:r>
            <a:r>
              <a:rPr sz="650" spc="100" dirty="0">
                <a:latin typeface="Courier New"/>
                <a:cs typeface="Courier New"/>
              </a:rPr>
              <a:t> </a:t>
            </a:r>
            <a:r>
              <a:rPr sz="650" spc="-10" dirty="0">
                <a:latin typeface="Courier New"/>
                <a:cs typeface="Courier New"/>
              </a:rPr>
              <a:t>amount</a:t>
            </a:r>
            <a:endParaRPr sz="650">
              <a:latin typeface="Courier New"/>
              <a:cs typeface="Courier New"/>
            </a:endParaRPr>
          </a:p>
          <a:p>
            <a:pPr marL="114300">
              <a:lnSpc>
                <a:spcPct val="100000"/>
              </a:lnSpc>
              <a:spcBef>
                <a:spcPts val="40"/>
              </a:spcBef>
            </a:pPr>
            <a:r>
              <a:rPr sz="650" dirty="0">
                <a:latin typeface="Courier New"/>
                <a:cs typeface="Courier New"/>
              </a:rPr>
              <a:t>history</a:t>
            </a:r>
            <a:r>
              <a:rPr sz="650" spc="200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&lt;&lt;-</a:t>
            </a:r>
            <a:r>
              <a:rPr sz="650" spc="204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c(history,</a:t>
            </a:r>
            <a:r>
              <a:rPr sz="650" spc="204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paste("Deposited:",</a:t>
            </a:r>
            <a:r>
              <a:rPr sz="650" spc="204" dirty="0">
                <a:latin typeface="Courier New"/>
                <a:cs typeface="Courier New"/>
              </a:rPr>
              <a:t> </a:t>
            </a:r>
            <a:r>
              <a:rPr sz="650" spc="-10" dirty="0">
                <a:latin typeface="Courier New"/>
                <a:cs typeface="Courier New"/>
              </a:rPr>
              <a:t>amount))</a:t>
            </a:r>
            <a:endParaRPr sz="650">
              <a:latin typeface="Courier New"/>
              <a:cs typeface="Courier New"/>
            </a:endParaRPr>
          </a:p>
          <a:p>
            <a:pPr marL="114300">
              <a:lnSpc>
                <a:spcPct val="100000"/>
              </a:lnSpc>
              <a:spcBef>
                <a:spcPts val="40"/>
              </a:spcBef>
            </a:pPr>
            <a:r>
              <a:rPr sz="650" spc="-50" dirty="0">
                <a:latin typeface="Courier New"/>
                <a:cs typeface="Courier New"/>
              </a:rPr>
              <a:t>}</a:t>
            </a:r>
            <a:endParaRPr sz="6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650">
              <a:latin typeface="Courier New"/>
              <a:cs typeface="Courier New"/>
            </a:endParaRPr>
          </a:p>
          <a:p>
            <a:pPr marL="114300" marR="1916430">
              <a:lnSpc>
                <a:spcPct val="105100"/>
              </a:lnSpc>
            </a:pPr>
            <a:r>
              <a:rPr sz="650" dirty="0">
                <a:latin typeface="Courier New"/>
                <a:cs typeface="Courier New"/>
              </a:rPr>
              <a:t>withdraw</a:t>
            </a:r>
            <a:r>
              <a:rPr sz="650" spc="180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&lt;-</a:t>
            </a:r>
            <a:r>
              <a:rPr sz="650" spc="185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function(amount)</a:t>
            </a:r>
            <a:r>
              <a:rPr sz="650" spc="180" dirty="0">
                <a:latin typeface="Courier New"/>
                <a:cs typeface="Courier New"/>
              </a:rPr>
              <a:t> </a:t>
            </a:r>
            <a:r>
              <a:rPr sz="650" spc="-50" dirty="0">
                <a:latin typeface="Courier New"/>
                <a:cs typeface="Courier New"/>
              </a:rPr>
              <a:t>{ </a:t>
            </a:r>
            <a:r>
              <a:rPr sz="650" dirty="0">
                <a:latin typeface="Courier New"/>
                <a:cs typeface="Courier New"/>
              </a:rPr>
              <a:t>if</a:t>
            </a:r>
            <a:r>
              <a:rPr sz="650" spc="105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(amount</a:t>
            </a:r>
            <a:r>
              <a:rPr sz="650" spc="105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&lt;=</a:t>
            </a:r>
            <a:r>
              <a:rPr sz="650" spc="110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balance)</a:t>
            </a:r>
            <a:r>
              <a:rPr sz="650" spc="105" dirty="0">
                <a:latin typeface="Courier New"/>
                <a:cs typeface="Courier New"/>
              </a:rPr>
              <a:t> </a:t>
            </a:r>
            <a:r>
              <a:rPr sz="650" spc="-50" dirty="0">
                <a:latin typeface="Courier New"/>
                <a:cs typeface="Courier New"/>
              </a:rPr>
              <a:t>{ </a:t>
            </a:r>
            <a:r>
              <a:rPr sz="650" dirty="0">
                <a:latin typeface="Courier New"/>
                <a:cs typeface="Courier New"/>
              </a:rPr>
              <a:t>balance</a:t>
            </a:r>
            <a:r>
              <a:rPr sz="650" spc="100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&lt;&lt;-</a:t>
            </a:r>
            <a:r>
              <a:rPr sz="650" spc="100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balance</a:t>
            </a:r>
            <a:r>
              <a:rPr sz="650" spc="105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-</a:t>
            </a:r>
            <a:r>
              <a:rPr sz="650" spc="100" dirty="0">
                <a:latin typeface="Courier New"/>
                <a:cs typeface="Courier New"/>
              </a:rPr>
              <a:t> </a:t>
            </a:r>
            <a:r>
              <a:rPr sz="650" spc="-10" dirty="0">
                <a:latin typeface="Courier New"/>
                <a:cs typeface="Courier New"/>
              </a:rPr>
              <a:t>amount</a:t>
            </a:r>
            <a:endParaRPr sz="650">
              <a:latin typeface="Courier New"/>
              <a:cs typeface="Courier New"/>
            </a:endParaRPr>
          </a:p>
          <a:p>
            <a:pPr marL="114300">
              <a:lnSpc>
                <a:spcPct val="100000"/>
              </a:lnSpc>
              <a:spcBef>
                <a:spcPts val="40"/>
              </a:spcBef>
            </a:pPr>
            <a:r>
              <a:rPr sz="650" dirty="0">
                <a:latin typeface="Courier New"/>
                <a:cs typeface="Courier New"/>
              </a:rPr>
              <a:t>history</a:t>
            </a:r>
            <a:r>
              <a:rPr sz="650" spc="200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&lt;&lt;-</a:t>
            </a:r>
            <a:r>
              <a:rPr sz="650" spc="204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c(history,</a:t>
            </a:r>
            <a:r>
              <a:rPr sz="650" spc="204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paste("Withdrawn:",</a:t>
            </a:r>
            <a:r>
              <a:rPr sz="650" spc="204" dirty="0">
                <a:latin typeface="Courier New"/>
                <a:cs typeface="Courier New"/>
              </a:rPr>
              <a:t> </a:t>
            </a:r>
            <a:r>
              <a:rPr sz="650" spc="-10" dirty="0">
                <a:latin typeface="Courier New"/>
                <a:cs typeface="Courier New"/>
              </a:rPr>
              <a:t>amount))</a:t>
            </a:r>
            <a:endParaRPr sz="650">
              <a:latin typeface="Courier New"/>
              <a:cs typeface="Courier New"/>
            </a:endParaRPr>
          </a:p>
          <a:p>
            <a:pPr marL="114300">
              <a:lnSpc>
                <a:spcPct val="100000"/>
              </a:lnSpc>
              <a:spcBef>
                <a:spcPts val="40"/>
              </a:spcBef>
            </a:pPr>
            <a:r>
              <a:rPr sz="650" dirty="0">
                <a:latin typeface="Courier New"/>
                <a:cs typeface="Courier New"/>
              </a:rPr>
              <a:t>}</a:t>
            </a:r>
            <a:r>
              <a:rPr sz="650" spc="60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else</a:t>
            </a:r>
            <a:r>
              <a:rPr sz="650" spc="65" dirty="0">
                <a:latin typeface="Courier New"/>
                <a:cs typeface="Courier New"/>
              </a:rPr>
              <a:t> </a:t>
            </a:r>
            <a:r>
              <a:rPr sz="650" spc="-50" dirty="0">
                <a:latin typeface="Courier New"/>
                <a:cs typeface="Courier New"/>
              </a:rPr>
              <a:t>{</a:t>
            </a:r>
            <a:endParaRPr sz="650">
              <a:latin typeface="Courier New"/>
              <a:cs typeface="Courier New"/>
            </a:endParaRPr>
          </a:p>
          <a:p>
            <a:pPr marL="114300">
              <a:lnSpc>
                <a:spcPct val="100000"/>
              </a:lnSpc>
              <a:spcBef>
                <a:spcPts val="40"/>
              </a:spcBef>
            </a:pPr>
            <a:r>
              <a:rPr sz="650" dirty="0">
                <a:latin typeface="Courier New"/>
                <a:cs typeface="Courier New"/>
              </a:rPr>
              <a:t>history</a:t>
            </a:r>
            <a:r>
              <a:rPr sz="650" spc="190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&lt;&lt;-</a:t>
            </a:r>
            <a:r>
              <a:rPr sz="650" spc="195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c(history,</a:t>
            </a:r>
            <a:r>
              <a:rPr sz="650" spc="190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paste("Withdrawal</a:t>
            </a:r>
            <a:r>
              <a:rPr sz="650" spc="195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failed:",</a:t>
            </a:r>
            <a:r>
              <a:rPr sz="650" spc="195" dirty="0">
                <a:latin typeface="Courier New"/>
                <a:cs typeface="Courier New"/>
              </a:rPr>
              <a:t> </a:t>
            </a:r>
            <a:r>
              <a:rPr sz="650" spc="-10" dirty="0">
                <a:latin typeface="Courier New"/>
                <a:cs typeface="Courier New"/>
              </a:rPr>
              <a:t>amount))</a:t>
            </a:r>
            <a:endParaRPr sz="650">
              <a:latin typeface="Courier New"/>
              <a:cs typeface="Courier New"/>
            </a:endParaRPr>
          </a:p>
          <a:p>
            <a:pPr marL="114300">
              <a:lnSpc>
                <a:spcPct val="100000"/>
              </a:lnSpc>
              <a:spcBef>
                <a:spcPts val="40"/>
              </a:spcBef>
            </a:pPr>
            <a:r>
              <a:rPr sz="650" spc="-50" dirty="0">
                <a:latin typeface="Courier New"/>
                <a:cs typeface="Courier New"/>
              </a:rPr>
              <a:t>}</a:t>
            </a:r>
            <a:endParaRPr sz="650">
              <a:latin typeface="Courier New"/>
              <a:cs typeface="Courier New"/>
            </a:endParaRPr>
          </a:p>
          <a:p>
            <a:pPr marL="114300">
              <a:lnSpc>
                <a:spcPct val="100000"/>
              </a:lnSpc>
              <a:spcBef>
                <a:spcPts val="40"/>
              </a:spcBef>
            </a:pPr>
            <a:r>
              <a:rPr sz="650" spc="-50" dirty="0">
                <a:latin typeface="Courier New"/>
                <a:cs typeface="Courier New"/>
              </a:rPr>
              <a:t>}</a:t>
            </a:r>
            <a:endParaRPr sz="6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650">
              <a:latin typeface="Courier New"/>
              <a:cs typeface="Courier New"/>
            </a:endParaRPr>
          </a:p>
          <a:p>
            <a:pPr marL="114300">
              <a:lnSpc>
                <a:spcPct val="100000"/>
              </a:lnSpc>
            </a:pPr>
            <a:r>
              <a:rPr sz="650" dirty="0">
                <a:latin typeface="Courier New"/>
                <a:cs typeface="Courier New"/>
              </a:rPr>
              <a:t>check_balance</a:t>
            </a:r>
            <a:r>
              <a:rPr sz="650" spc="175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&lt;-</a:t>
            </a:r>
            <a:r>
              <a:rPr sz="650" spc="175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function()</a:t>
            </a:r>
            <a:r>
              <a:rPr sz="650" spc="175" dirty="0">
                <a:latin typeface="Courier New"/>
                <a:cs typeface="Courier New"/>
              </a:rPr>
              <a:t> </a:t>
            </a:r>
            <a:r>
              <a:rPr sz="650" spc="-50" dirty="0">
                <a:latin typeface="Courier New"/>
                <a:cs typeface="Courier New"/>
              </a:rPr>
              <a:t>{</a:t>
            </a:r>
            <a:endParaRPr sz="650">
              <a:latin typeface="Courier New"/>
              <a:cs typeface="Courier New"/>
            </a:endParaRPr>
          </a:p>
          <a:p>
            <a:pPr marL="114300">
              <a:lnSpc>
                <a:spcPct val="100000"/>
              </a:lnSpc>
              <a:spcBef>
                <a:spcPts val="40"/>
              </a:spcBef>
            </a:pPr>
            <a:r>
              <a:rPr sz="650" dirty="0">
                <a:latin typeface="Courier New"/>
                <a:cs typeface="Courier New"/>
              </a:rPr>
              <a:t>cat("Current</a:t>
            </a:r>
            <a:r>
              <a:rPr sz="650" spc="170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Balance:</a:t>
            </a:r>
            <a:r>
              <a:rPr sz="650" spc="175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Rs.",</a:t>
            </a:r>
            <a:r>
              <a:rPr sz="650" spc="175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balance,</a:t>
            </a:r>
            <a:r>
              <a:rPr sz="650" spc="175" dirty="0">
                <a:latin typeface="Courier New"/>
                <a:cs typeface="Courier New"/>
              </a:rPr>
              <a:t> </a:t>
            </a:r>
            <a:r>
              <a:rPr sz="650" spc="-10" dirty="0">
                <a:latin typeface="Courier New"/>
                <a:cs typeface="Courier New"/>
              </a:rPr>
              <a:t>"\n")</a:t>
            </a:r>
            <a:endParaRPr sz="650">
              <a:latin typeface="Courier New"/>
              <a:cs typeface="Courier New"/>
            </a:endParaRPr>
          </a:p>
          <a:p>
            <a:pPr marL="114300">
              <a:lnSpc>
                <a:spcPct val="100000"/>
              </a:lnSpc>
              <a:spcBef>
                <a:spcPts val="40"/>
              </a:spcBef>
            </a:pPr>
            <a:r>
              <a:rPr sz="650" spc="-50" dirty="0">
                <a:latin typeface="Courier New"/>
                <a:cs typeface="Courier New"/>
              </a:rPr>
              <a:t>}</a:t>
            </a:r>
            <a:endParaRPr sz="6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650">
              <a:latin typeface="Courier New"/>
              <a:cs typeface="Courier New"/>
            </a:endParaRPr>
          </a:p>
          <a:p>
            <a:pPr marL="114300" marR="1968500">
              <a:lnSpc>
                <a:spcPct val="105100"/>
              </a:lnSpc>
            </a:pPr>
            <a:r>
              <a:rPr sz="650" dirty="0">
                <a:latin typeface="Courier New"/>
                <a:cs typeface="Courier New"/>
              </a:rPr>
              <a:t>show_history</a:t>
            </a:r>
            <a:r>
              <a:rPr sz="650" spc="170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&lt;-</a:t>
            </a:r>
            <a:r>
              <a:rPr sz="650" spc="170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function()</a:t>
            </a:r>
            <a:r>
              <a:rPr sz="650" spc="170" dirty="0">
                <a:latin typeface="Courier New"/>
                <a:cs typeface="Courier New"/>
              </a:rPr>
              <a:t> </a:t>
            </a:r>
            <a:r>
              <a:rPr sz="650" spc="-50" dirty="0">
                <a:latin typeface="Courier New"/>
                <a:cs typeface="Courier New"/>
              </a:rPr>
              <a:t>{ </a:t>
            </a:r>
            <a:r>
              <a:rPr sz="650" dirty="0">
                <a:latin typeface="Courier New"/>
                <a:cs typeface="Courier New"/>
              </a:rPr>
              <a:t>cat("Transaction</a:t>
            </a:r>
            <a:r>
              <a:rPr sz="650" spc="325" dirty="0">
                <a:latin typeface="Courier New"/>
                <a:cs typeface="Courier New"/>
              </a:rPr>
              <a:t> </a:t>
            </a:r>
            <a:r>
              <a:rPr sz="650" spc="-10" dirty="0">
                <a:latin typeface="Courier New"/>
                <a:cs typeface="Courier New"/>
              </a:rPr>
              <a:t>History:\n") </a:t>
            </a:r>
            <a:r>
              <a:rPr sz="650" dirty="0">
                <a:latin typeface="Courier New"/>
                <a:cs typeface="Courier New"/>
              </a:rPr>
              <a:t>if</a:t>
            </a:r>
            <a:r>
              <a:rPr sz="650" spc="120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(length(history)</a:t>
            </a:r>
            <a:r>
              <a:rPr sz="650" spc="120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==</a:t>
            </a:r>
            <a:r>
              <a:rPr sz="650" spc="120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0)</a:t>
            </a:r>
            <a:r>
              <a:rPr sz="650" spc="125" dirty="0">
                <a:latin typeface="Courier New"/>
                <a:cs typeface="Courier New"/>
              </a:rPr>
              <a:t> </a:t>
            </a:r>
            <a:r>
              <a:rPr sz="650" spc="-50" dirty="0">
                <a:latin typeface="Courier New"/>
                <a:cs typeface="Courier New"/>
              </a:rPr>
              <a:t>{ </a:t>
            </a:r>
            <a:r>
              <a:rPr sz="650" dirty="0">
                <a:latin typeface="Courier New"/>
                <a:cs typeface="Courier New"/>
              </a:rPr>
              <a:t>cat("No</a:t>
            </a:r>
            <a:r>
              <a:rPr sz="650" spc="150" dirty="0">
                <a:latin typeface="Courier New"/>
                <a:cs typeface="Courier New"/>
              </a:rPr>
              <a:t> </a:t>
            </a:r>
            <a:r>
              <a:rPr sz="650" spc="-10" dirty="0">
                <a:latin typeface="Courier New"/>
                <a:cs typeface="Courier New"/>
              </a:rPr>
              <a:t>transactions\n")</a:t>
            </a:r>
            <a:endParaRPr sz="650">
              <a:latin typeface="Courier New"/>
              <a:cs typeface="Courier New"/>
            </a:endParaRPr>
          </a:p>
          <a:p>
            <a:pPr marL="114300" marR="2745740">
              <a:lnSpc>
                <a:spcPct val="105100"/>
              </a:lnSpc>
            </a:pPr>
            <a:r>
              <a:rPr sz="650" dirty="0">
                <a:latin typeface="Courier New"/>
                <a:cs typeface="Courier New"/>
              </a:rPr>
              <a:t>}</a:t>
            </a:r>
            <a:r>
              <a:rPr sz="650" spc="60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else</a:t>
            </a:r>
            <a:r>
              <a:rPr sz="650" spc="65" dirty="0">
                <a:latin typeface="Courier New"/>
                <a:cs typeface="Courier New"/>
              </a:rPr>
              <a:t> </a:t>
            </a:r>
            <a:r>
              <a:rPr sz="650" spc="-50" dirty="0">
                <a:latin typeface="Courier New"/>
                <a:cs typeface="Courier New"/>
              </a:rPr>
              <a:t>{ </a:t>
            </a:r>
            <a:r>
              <a:rPr sz="650" spc="-10" dirty="0">
                <a:latin typeface="Courier New"/>
                <a:cs typeface="Courier New"/>
              </a:rPr>
              <a:t>print(history)</a:t>
            </a:r>
            <a:endParaRPr sz="650">
              <a:latin typeface="Courier New"/>
              <a:cs typeface="Courier New"/>
            </a:endParaRPr>
          </a:p>
          <a:p>
            <a:pPr marL="114300">
              <a:lnSpc>
                <a:spcPct val="100000"/>
              </a:lnSpc>
              <a:spcBef>
                <a:spcPts val="40"/>
              </a:spcBef>
            </a:pPr>
            <a:r>
              <a:rPr sz="650" spc="-50" dirty="0">
                <a:latin typeface="Courier New"/>
                <a:cs typeface="Courier New"/>
              </a:rPr>
              <a:t>}</a:t>
            </a:r>
            <a:endParaRPr sz="650">
              <a:latin typeface="Courier New"/>
              <a:cs typeface="Courier New"/>
            </a:endParaRPr>
          </a:p>
          <a:p>
            <a:pPr marL="114300">
              <a:lnSpc>
                <a:spcPct val="100000"/>
              </a:lnSpc>
              <a:spcBef>
                <a:spcPts val="40"/>
              </a:spcBef>
            </a:pPr>
            <a:r>
              <a:rPr sz="650" spc="-50" dirty="0">
                <a:latin typeface="Courier New"/>
                <a:cs typeface="Courier New"/>
              </a:rPr>
              <a:t>}</a:t>
            </a:r>
            <a:endParaRPr sz="6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650">
              <a:latin typeface="Courier New"/>
              <a:cs typeface="Courier New"/>
            </a:endParaRPr>
          </a:p>
          <a:p>
            <a:pPr marL="114300" marR="2694305">
              <a:lnSpc>
                <a:spcPct val="105100"/>
              </a:lnSpc>
              <a:spcBef>
                <a:spcPts val="5"/>
              </a:spcBef>
            </a:pPr>
            <a:r>
              <a:rPr sz="650" spc="-10" dirty="0">
                <a:latin typeface="Courier New"/>
                <a:cs typeface="Courier New"/>
              </a:rPr>
              <a:t>deposit(5000) withdraw(3000) check_balance() show_history()</a:t>
            </a:r>
            <a:endParaRPr sz="650">
              <a:latin typeface="Courier New"/>
              <a:cs typeface="Courier New"/>
            </a:endParaRPr>
          </a:p>
        </p:txBody>
      </p: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1700" y="891579"/>
            <a:ext cx="22923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Times New Roman"/>
                <a:cs typeface="Times New Roman"/>
              </a:rPr>
              <a:t>RUBRICS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FOR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CALCULATION:</a:t>
            </a:r>
            <a:endParaRPr sz="1200">
              <a:latin typeface="Times New Roman"/>
              <a:cs typeface="Times New Roman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914400" y="1308100"/>
          <a:ext cx="6337300" cy="61061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2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11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Criteria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028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Weightage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028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200" b="1" dirty="0">
                          <a:latin typeface="Times New Roman"/>
                          <a:cs typeface="Times New Roman"/>
                        </a:rPr>
                        <a:t>Level</a:t>
                      </a:r>
                      <a:r>
                        <a:rPr sz="12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dirty="0">
                          <a:latin typeface="Times New Roman"/>
                          <a:cs typeface="Times New Roman"/>
                        </a:rPr>
                        <a:t>4</a:t>
                      </a:r>
                      <a:r>
                        <a:rPr sz="12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50" dirty="0">
                          <a:latin typeface="Times New Roman"/>
                          <a:cs typeface="Times New Roman"/>
                        </a:rPr>
                        <a:t>–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78740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Exemplary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5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200" b="1" dirty="0">
                          <a:latin typeface="Times New Roman"/>
                          <a:cs typeface="Times New Roman"/>
                        </a:rPr>
                        <a:t>Level</a:t>
                      </a:r>
                      <a:r>
                        <a:rPr sz="12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dirty="0">
                          <a:latin typeface="Times New Roman"/>
                          <a:cs typeface="Times New Roman"/>
                        </a:rPr>
                        <a:t>3</a:t>
                      </a:r>
                      <a:r>
                        <a:rPr sz="12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50" dirty="0">
                          <a:latin typeface="Times New Roman"/>
                          <a:cs typeface="Times New Roman"/>
                        </a:rPr>
                        <a:t>–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Proficient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5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200" b="1" dirty="0">
                          <a:latin typeface="Times New Roman"/>
                          <a:cs typeface="Times New Roman"/>
                        </a:rPr>
                        <a:t>Level</a:t>
                      </a:r>
                      <a:r>
                        <a:rPr sz="12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dirty="0"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sz="12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50" dirty="0">
                          <a:latin typeface="Times New Roman"/>
                          <a:cs typeface="Times New Roman"/>
                        </a:rPr>
                        <a:t>–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76200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Developing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5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200" b="1" dirty="0">
                          <a:latin typeface="Times New Roman"/>
                          <a:cs typeface="Times New Roman"/>
                        </a:rPr>
                        <a:t>Level</a:t>
                      </a:r>
                      <a:r>
                        <a:rPr sz="12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dirty="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12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50" dirty="0">
                          <a:latin typeface="Times New Roman"/>
                          <a:cs typeface="Times New Roman"/>
                        </a:rPr>
                        <a:t>–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76200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Beginning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5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85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9215" marR="129539" algn="just">
                        <a:lnSpc>
                          <a:spcPct val="11020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Understandin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g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Problem Context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0413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7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350" algn="ctr">
                        <a:lnSpc>
                          <a:spcPct val="100000"/>
                        </a:lnSpc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20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ts val="141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Clearly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78740" marR="248285">
                        <a:lnSpc>
                          <a:spcPct val="11020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understands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problem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78740" marR="95250">
                        <a:lnSpc>
                          <a:spcPct val="110200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accurately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identifies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all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78740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requirements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9850" marR="176530">
                        <a:lnSpc>
                          <a:spcPct val="110200"/>
                        </a:lnSpc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Good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understanding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minor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gaps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 marR="114935">
                        <a:lnSpc>
                          <a:spcPct val="110200"/>
                        </a:lnSpc>
                        <a:spcBef>
                          <a:spcPts val="61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Basic understanding;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some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76200" marR="225425">
                        <a:lnSpc>
                          <a:spcPct val="11020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requirements unclear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76200" marR="68580">
                        <a:lnSpc>
                          <a:spcPct val="110200"/>
                        </a:lnSpc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Poor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understanding</a:t>
                      </a:r>
                      <a:r>
                        <a:rPr sz="12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or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misinterpretatio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problem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85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9215" marR="67310">
                        <a:lnSpc>
                          <a:spcPct val="110200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Application</a:t>
                      </a:r>
                      <a:r>
                        <a:rPr sz="12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of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Concepts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350" algn="ctr">
                        <a:lnSpc>
                          <a:spcPct val="100000"/>
                        </a:lnSpc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30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ts val="1405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Accurately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78740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applies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78740" marR="285750">
                        <a:lnSpc>
                          <a:spcPct val="11020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appropriate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concepts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to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78740" marR="95885">
                        <a:lnSpc>
                          <a:spcPct val="110200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solve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complex problems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 marR="506730" algn="just">
                        <a:lnSpc>
                          <a:spcPct val="110200"/>
                        </a:lnSpc>
                        <a:spcBef>
                          <a:spcPts val="61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Applies relevant concepts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9850" marR="189230" algn="just">
                        <a:lnSpc>
                          <a:spcPct val="110200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correctly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with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minor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errors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774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76200" marR="178435">
                        <a:lnSpc>
                          <a:spcPct val="110200"/>
                        </a:lnSpc>
                        <a:spcBef>
                          <a:spcPts val="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Applies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basic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concepts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with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limited accuracy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5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76200" marR="267335">
                        <a:lnSpc>
                          <a:spcPct val="110200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Fails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apply appropriate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76200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concepts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035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153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9215" marR="104139">
                        <a:lnSpc>
                          <a:spcPct val="11020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Problem-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Solv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ing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Approach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028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350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20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ts val="140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Logical,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78740" marR="133350">
                        <a:lnSpc>
                          <a:spcPct val="11020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well-structure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d,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efficient approach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9850" marR="154940" algn="just">
                        <a:lnSpc>
                          <a:spcPct val="110200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Mostly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logical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approach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with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minor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gaps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5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76200" marR="85725">
                        <a:lnSpc>
                          <a:spcPct val="110200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Basic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approach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some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76200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inconsistencies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5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76200" marR="424180">
                        <a:lnSpc>
                          <a:spcPct val="110200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Illogical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or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unclear approach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5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153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9215" marR="201930">
                        <a:lnSpc>
                          <a:spcPct val="110200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Accuracy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of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Solution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0413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350" algn="ctr">
                        <a:lnSpc>
                          <a:spcPct val="100000"/>
                        </a:lnSpc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20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ts val="141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Completely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78740" marR="179070">
                        <a:lnSpc>
                          <a:spcPct val="11020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correct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solution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with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proper justification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9850" marR="146685">
                        <a:lnSpc>
                          <a:spcPct val="110200"/>
                        </a:lnSpc>
                        <a:spcBef>
                          <a:spcPts val="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Mostly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correct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minor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errors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76200" marR="68580">
                        <a:lnSpc>
                          <a:spcPct val="11020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Partially</a:t>
                      </a:r>
                      <a:r>
                        <a:rPr sz="12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correct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solution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0413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76200" marR="382270" algn="just">
                        <a:lnSpc>
                          <a:spcPct val="110200"/>
                        </a:lnSpc>
                        <a:spcBef>
                          <a:spcPts val="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Incorrect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or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incomplete solution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19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8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9215">
                        <a:lnSpc>
                          <a:spcPct val="10000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Clarity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8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350" algn="ctr">
                        <a:lnSpc>
                          <a:spcPct val="100000"/>
                        </a:lnSpc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10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ts val="142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Clear,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78740" marR="144780">
                        <a:lnSpc>
                          <a:spcPct val="11020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well-organize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d,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properly explained solution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3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9850" marR="83185">
                        <a:lnSpc>
                          <a:spcPct val="11020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Understandable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minor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clarity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issues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054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3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76200" marR="111125">
                        <a:lnSpc>
                          <a:spcPct val="110200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Limited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clarity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explanation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054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3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76200" marR="68580">
                        <a:lnSpc>
                          <a:spcPct val="110200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Poorly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presented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difficult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understand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054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Words>1202</Words>
  <Application>Microsoft Office PowerPoint</Application>
  <PresentationFormat>Custom</PresentationFormat>
  <Paragraphs>223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Arial MT</vt:lpstr>
      <vt:lpstr>Calibri</vt:lpstr>
      <vt:lpstr>Courier New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 Padmasree</dc:creator>
  <cp:lastModifiedBy>D Padmasree</cp:lastModifiedBy>
  <cp:revision>1</cp:revision>
  <dcterms:created xsi:type="dcterms:W3CDTF">2026-10-06T01:02:35Z</dcterms:created>
  <dcterms:modified xsi:type="dcterms:W3CDTF">2026-10-06T01:07:22Z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2026-10-06T00:00:00Z</vt:filetime>
  </property>
  <property fmtid="{D5CDD505-2E9C-101B-9397-08002B2CF9AE}" pid="4" name="LastSaved">
    <vt:filetime>2026-10-06T00:00:00Z</vt:filetime>
  </property>
</Properties>
</file>